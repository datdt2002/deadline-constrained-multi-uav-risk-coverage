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0"/>
  </p:notesMasterIdLst>
  <p:handoutMasterIdLst>
    <p:handoutMasterId r:id="rId21"/>
  </p:handoutMasterIdLst>
  <p:sldIdLst>
    <p:sldId id="277" r:id="rId2"/>
    <p:sldId id="278" r:id="rId3"/>
    <p:sldId id="279"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12" d="100"/>
          <a:sy n="112" d="100"/>
        </p:scale>
        <p:origin x="15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75% OPT</c:v>
                </c:pt>
              </c:strCache>
            </c:strRef>
          </c:tx>
          <c:spPr>
            <a:solidFill>
              <a:srgbClr val="C00000"/>
            </a:solidFill>
          </c:spPr>
          <c:invertIfNegative val="1"/>
          <c:cat>
            <c:strRef>
              <c:f>Sheet1!$A$2:$A$6</c:f>
              <c:strCache>
                <c:ptCount val="5"/>
                <c:pt idx="0">
                  <c:v>Greedy thuần</c:v>
                </c:pt>
                <c:pt idx="1">
                  <c:v>Ratio</c:v>
                </c:pt>
                <c:pt idx="2">
                  <c:v>Ratio + seed</c:v>
                </c:pt>
                <c:pt idx="3">
                  <c:v>Ratio + LS</c:v>
                </c:pt>
                <c:pt idx="4">
                  <c:v>Đầy đủ</c:v>
                </c:pt>
              </c:strCache>
            </c:strRef>
          </c:cat>
          <c:val>
            <c:numRef>
              <c:f>Sheet1!$B$2:$B$6</c:f>
              <c:numCache>
                <c:formatCode>General</c:formatCode>
                <c:ptCount val="5"/>
                <c:pt idx="0">
                  <c:v>43.5</c:v>
                </c:pt>
                <c:pt idx="1">
                  <c:v>98.5</c:v>
                </c:pt>
                <c:pt idx="2">
                  <c:v>98.7</c:v>
                </c:pt>
                <c:pt idx="3">
                  <c:v>99.3</c:v>
                </c:pt>
                <c:pt idx="4">
                  <c:v>99.4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55B-4B38-8E89-9AD6BA9BE5E9}"/>
            </c:ext>
          </c:extLst>
        </c:ser>
        <c:ser>
          <c:idx val="1"/>
          <c:order val="1"/>
          <c:tx>
            <c:strRef>
              <c:f>Sheet1!$C$1</c:f>
              <c:strCache>
                <c:ptCount val="1"/>
                <c:pt idx="0">
                  <c:v>50% OPT</c:v>
                </c:pt>
              </c:strCache>
            </c:strRef>
          </c:tx>
          <c:spPr>
            <a:solidFill>
              <a:srgbClr val="E39B0B"/>
            </a:solidFill>
          </c:spPr>
          <c:invertIfNegative val="1"/>
          <c:cat>
            <c:strRef>
              <c:f>Sheet1!$A$2:$A$6</c:f>
              <c:strCache>
                <c:ptCount val="5"/>
                <c:pt idx="0">
                  <c:v>Greedy thuần</c:v>
                </c:pt>
                <c:pt idx="1">
                  <c:v>Ratio</c:v>
                </c:pt>
                <c:pt idx="2">
                  <c:v>Ratio + seed</c:v>
                </c:pt>
                <c:pt idx="3">
                  <c:v>Ratio + LS</c:v>
                </c:pt>
                <c:pt idx="4">
                  <c:v>Đầy đủ</c:v>
                </c:pt>
              </c:strCache>
            </c:strRef>
          </c:cat>
          <c:val>
            <c:numRef>
              <c:f>Sheet1!$C$2:$C$6</c:f>
              <c:numCache>
                <c:formatCode>General</c:formatCode>
                <c:ptCount val="5"/>
                <c:pt idx="0">
                  <c:v>41</c:v>
                </c:pt>
                <c:pt idx="1">
                  <c:v>98.7</c:v>
                </c:pt>
                <c:pt idx="2">
                  <c:v>99</c:v>
                </c:pt>
                <c:pt idx="3">
                  <c:v>99.3</c:v>
                </c:pt>
                <c:pt idx="4">
                  <c:v>99.4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55B-4B38-8E89-9AD6BA9BE5E9}"/>
            </c:ext>
          </c:extLst>
        </c:ser>
        <c:ser>
          <c:idx val="2"/>
          <c:order val="2"/>
          <c:tx>
            <c:strRef>
              <c:f>Sheet1!$D$1</c:f>
              <c:strCache>
                <c:ptCount val="1"/>
                <c:pt idx="0">
                  <c:v>25% OPT</c:v>
                </c:pt>
              </c:strCache>
            </c:strRef>
          </c:tx>
          <c:spPr>
            <a:solidFill>
              <a:srgbClr val="A6A6A6"/>
            </a:solidFill>
          </c:spPr>
          <c:invertIfNegative val="1"/>
          <c:cat>
            <c:strRef>
              <c:f>Sheet1!$A$2:$A$6</c:f>
              <c:strCache>
                <c:ptCount val="5"/>
                <c:pt idx="0">
                  <c:v>Greedy thuần</c:v>
                </c:pt>
                <c:pt idx="1">
                  <c:v>Ratio</c:v>
                </c:pt>
                <c:pt idx="2">
                  <c:v>Ratio + seed</c:v>
                </c:pt>
                <c:pt idx="3">
                  <c:v>Ratio + LS</c:v>
                </c:pt>
                <c:pt idx="4">
                  <c:v>Đầy đủ</c:v>
                </c:pt>
              </c:strCache>
            </c:strRef>
          </c:cat>
          <c:val>
            <c:numRef>
              <c:f>Sheet1!$D$2:$D$6</c:f>
              <c:numCache>
                <c:formatCode>General</c:formatCode>
                <c:ptCount val="5"/>
                <c:pt idx="0">
                  <c:v>40.799999999999997</c:v>
                </c:pt>
                <c:pt idx="1">
                  <c:v>99</c:v>
                </c:pt>
                <c:pt idx="2">
                  <c:v>99.5</c:v>
                </c:pt>
                <c:pt idx="3">
                  <c:v>99.5</c:v>
                </c:pt>
                <c:pt idx="4">
                  <c:v>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55B-4B38-8E89-9AD6BA9BE5E9}"/>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A6A6A6"/>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00"/>
          <c:min val="0"/>
        </c:scaling>
        <c:delete val="0"/>
        <c:axPos val="l"/>
        <c:majorGridlines>
          <c:spPr>
            <a:ln>
              <a:solidFill>
                <a:srgbClr val="E3E3E3"/>
              </a:solidFill>
            </a:ln>
          </c:spPr>
        </c:majorGridlines>
        <c:numFmt formatCode="0&quot;%&quot;" sourceLinked="0"/>
        <c:majorTickMark val="out"/>
        <c:minorTickMark val="none"/>
        <c:tickLblPos val="nextTo"/>
        <c:spPr>
          <a:ln>
            <a:noFill/>
          </a:ln>
        </c:spPr>
        <c:txPr>
          <a:bodyPr/>
          <a:lstStyle/>
          <a:p>
            <a:pPr>
              <a:defRPr sz="1100"/>
            </a:pPr>
            <a:endParaRPr lang="en-US"/>
          </a:p>
        </c:txPr>
        <c:crossAx val="-2068027336"/>
        <c:crosses val="autoZero"/>
        <c:crossBetween val="between"/>
      </c:valAx>
    </c:plotArea>
    <c:legend>
      <c:legendPos val="t"/>
      <c:overlay val="0"/>
      <c:txPr>
        <a:bodyPr/>
        <a:lstStyle/>
        <a:p>
          <a:pPr>
            <a:defRPr sz="1200"/>
          </a:pPr>
          <a:endParaRPr lang="en-US"/>
        </a:p>
      </c:txPr>
    </c:legend>
    <c:plotVisOnly val="1"/>
    <c:dispBlanksAs val="gap"/>
    <c:showDLblsOverMax val="1"/>
  </c:chart>
  <c:txPr>
    <a:bodyPr/>
    <a:lstStyle/>
    <a:p>
      <a:pPr>
        <a:defRPr sz="1200">
          <a:solidFill>
            <a:srgbClr val="59595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proposed</c:v>
                </c:pt>
              </c:strCache>
            </c:strRef>
          </c:tx>
          <c:spPr>
            <a:solidFill>
              <a:srgbClr val="C00000"/>
            </a:solidFill>
          </c:spPr>
          <c:invertIfNegative val="1"/>
          <c:dLbls>
            <c:numFmt formatCode="0.0" sourceLinked="0"/>
            <c:spPr>
              <a:noFill/>
              <a:ln>
                <a:noFill/>
              </a:ln>
              <a:effectLst/>
            </c:spPr>
            <c:txPr>
              <a:bodyPr/>
              <a:lstStyle/>
              <a:p>
                <a:pPr>
                  <a:defRPr sz="1100">
                    <a:solidFill>
                      <a:srgbClr val="26262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25%</c:v>
                </c:pt>
                <c:pt idx="1">
                  <c:v>50%</c:v>
                </c:pt>
                <c:pt idx="2">
                  <c:v>75%</c:v>
                </c:pt>
                <c:pt idx="3">
                  <c:v>100%</c:v>
                </c:pt>
              </c:strCache>
            </c:strRef>
          </c:cat>
          <c:val>
            <c:numRef>
              <c:f>Sheet1!$B$2:$B$5</c:f>
              <c:numCache>
                <c:formatCode>General</c:formatCode>
                <c:ptCount val="4"/>
                <c:pt idx="0">
                  <c:v>98.39</c:v>
                </c:pt>
                <c:pt idx="1">
                  <c:v>97.06</c:v>
                </c:pt>
                <c:pt idx="2">
                  <c:v>97.28</c:v>
                </c:pt>
                <c:pt idx="3">
                  <c:v>98.43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574-42EC-AAF6-D1FC711E1920}"/>
            </c:ext>
          </c:extLst>
        </c:ser>
        <c:ser>
          <c:idx val="1"/>
          <c:order val="1"/>
          <c:tx>
            <c:strRef>
              <c:f>Sheet1!$C$1</c:f>
              <c:strCache>
                <c:ptCount val="1"/>
                <c:pt idx="0">
                  <c:v>naive</c:v>
                </c:pt>
              </c:strCache>
            </c:strRef>
          </c:tx>
          <c:spPr>
            <a:solidFill>
              <a:srgbClr val="A6A6A6"/>
            </a:solidFill>
          </c:spPr>
          <c:invertIfNegative val="1"/>
          <c:dLbls>
            <c:numFmt formatCode="0.0" sourceLinked="0"/>
            <c:spPr>
              <a:noFill/>
              <a:ln>
                <a:noFill/>
              </a:ln>
              <a:effectLst/>
            </c:spPr>
            <c:txPr>
              <a:bodyPr/>
              <a:lstStyle/>
              <a:p>
                <a:pPr>
                  <a:defRPr sz="1100">
                    <a:solidFill>
                      <a:srgbClr val="262626"/>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25%</c:v>
                </c:pt>
                <c:pt idx="1">
                  <c:v>50%</c:v>
                </c:pt>
                <c:pt idx="2">
                  <c:v>75%</c:v>
                </c:pt>
                <c:pt idx="3">
                  <c:v>100%</c:v>
                </c:pt>
              </c:strCache>
            </c:strRef>
          </c:cat>
          <c:val>
            <c:numRef>
              <c:f>Sheet1!$C$2:$C$5</c:f>
              <c:numCache>
                <c:formatCode>General</c:formatCode>
                <c:ptCount val="4"/>
                <c:pt idx="0">
                  <c:v>93.28</c:v>
                </c:pt>
                <c:pt idx="1">
                  <c:v>90.84</c:v>
                </c:pt>
                <c:pt idx="2">
                  <c:v>92.11</c:v>
                </c:pt>
                <c:pt idx="3">
                  <c:v>94.1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574-42EC-AAF6-D1FC711E1920}"/>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A6A6A6"/>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00"/>
          <c:min val="85"/>
        </c:scaling>
        <c:delete val="0"/>
        <c:axPos val="l"/>
        <c:majorGridlines>
          <c:spPr>
            <a:ln>
              <a:solidFill>
                <a:srgbClr val="E3E3E3"/>
              </a:solidFill>
            </a:ln>
          </c:spPr>
        </c:majorGridlines>
        <c:numFmt formatCode="0&quot;%&quot;" sourceLinked="0"/>
        <c:majorTickMark val="out"/>
        <c:minorTickMark val="none"/>
        <c:tickLblPos val="nextTo"/>
        <c:spPr>
          <a:ln>
            <a:noFill/>
          </a:ln>
        </c:spPr>
        <c:txPr>
          <a:bodyPr/>
          <a:lstStyle/>
          <a:p>
            <a:pPr>
              <a:defRPr sz="1100"/>
            </a:pPr>
            <a:endParaRPr lang="en-US"/>
          </a:p>
        </c:txPr>
        <c:crossAx val="-2068027336"/>
        <c:crosses val="autoZero"/>
        <c:crossBetween val="between"/>
        <c:majorUnit val="5"/>
      </c:valAx>
    </c:plotArea>
    <c:legend>
      <c:legendPos val="t"/>
      <c:overlay val="0"/>
      <c:txPr>
        <a:bodyPr/>
        <a:lstStyle/>
        <a:p>
          <a:pPr>
            <a:defRPr sz="1200"/>
          </a:pPr>
          <a:endParaRPr lang="en-US"/>
        </a:p>
      </c:txPr>
    </c:legend>
    <c:plotVisOnly val="1"/>
    <c:dispBlanksAs val="gap"/>
    <c:showDLblsOverMax val="1"/>
  </c:chart>
  <c:txPr>
    <a:bodyPr/>
    <a:lstStyle/>
    <a:p>
      <a:pPr>
        <a:defRPr sz="1200">
          <a:solidFill>
            <a:srgbClr val="595959"/>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naive</c:v>
                </c:pt>
              </c:strCache>
            </c:strRef>
          </c:tx>
          <c:spPr>
            <a:solidFill>
              <a:srgbClr val="D9D9D9"/>
            </a:solidFill>
          </c:spPr>
          <c:invertIfNegative val="1"/>
          <c:cat>
            <c:strRef>
              <c:f>Sheet1!$A$2:$A$5</c:f>
              <c:strCache>
                <c:ptCount val="4"/>
                <c:pt idx="0">
                  <c:v>25%</c:v>
                </c:pt>
                <c:pt idx="1">
                  <c:v>50%</c:v>
                </c:pt>
                <c:pt idx="2">
                  <c:v>75%</c:v>
                </c:pt>
                <c:pt idx="3">
                  <c:v>100%</c:v>
                </c:pt>
              </c:strCache>
            </c:strRef>
          </c:cat>
          <c:val>
            <c:numRef>
              <c:f>Sheet1!$B$2:$B$5</c:f>
              <c:numCache>
                <c:formatCode>General</c:formatCode>
                <c:ptCount val="4"/>
                <c:pt idx="0">
                  <c:v>93.28</c:v>
                </c:pt>
                <c:pt idx="1">
                  <c:v>90.84</c:v>
                </c:pt>
                <c:pt idx="2">
                  <c:v>92.11</c:v>
                </c:pt>
                <c:pt idx="3">
                  <c:v>94.1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3D4-4598-AA2E-C6FCD9335F82}"/>
            </c:ext>
          </c:extLst>
        </c:ser>
        <c:ser>
          <c:idx val="1"/>
          <c:order val="1"/>
          <c:tx>
            <c:strRef>
              <c:f>Sheet1!$C$1</c:f>
              <c:strCache>
                <c:ptCount val="1"/>
                <c:pt idx="0">
                  <c:v>chỉ ratio greedy</c:v>
                </c:pt>
              </c:strCache>
            </c:strRef>
          </c:tx>
          <c:spPr>
            <a:solidFill>
              <a:srgbClr val="F2B8B8"/>
            </a:solidFill>
          </c:spPr>
          <c:invertIfNegative val="1"/>
          <c:cat>
            <c:strRef>
              <c:f>Sheet1!$A$2:$A$5</c:f>
              <c:strCache>
                <c:ptCount val="4"/>
                <c:pt idx="0">
                  <c:v>25%</c:v>
                </c:pt>
                <c:pt idx="1">
                  <c:v>50%</c:v>
                </c:pt>
                <c:pt idx="2">
                  <c:v>75%</c:v>
                </c:pt>
                <c:pt idx="3">
                  <c:v>100%</c:v>
                </c:pt>
              </c:strCache>
            </c:strRef>
          </c:cat>
          <c:val>
            <c:numRef>
              <c:f>Sheet1!$C$2:$C$5</c:f>
              <c:numCache>
                <c:formatCode>General</c:formatCode>
                <c:ptCount val="4"/>
                <c:pt idx="0">
                  <c:v>94.56</c:v>
                </c:pt>
                <c:pt idx="1">
                  <c:v>91.9</c:v>
                </c:pt>
                <c:pt idx="2">
                  <c:v>93.01</c:v>
                </c:pt>
                <c:pt idx="3">
                  <c:v>95.45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3D4-4598-AA2E-C6FCD9335F82}"/>
            </c:ext>
          </c:extLst>
        </c:ser>
        <c:ser>
          <c:idx val="2"/>
          <c:order val="2"/>
          <c:tx>
            <c:strRef>
              <c:f>Sheet1!$D$1</c:f>
              <c:strCache>
                <c:ptCount val="1"/>
                <c:pt idx="0">
                  <c:v>bỏ seed</c:v>
                </c:pt>
              </c:strCache>
            </c:strRef>
          </c:tx>
          <c:spPr>
            <a:solidFill>
              <a:srgbClr val="E06B6B"/>
            </a:solidFill>
          </c:spPr>
          <c:invertIfNegative val="1"/>
          <c:cat>
            <c:strRef>
              <c:f>Sheet1!$A$2:$A$5</c:f>
              <c:strCache>
                <c:ptCount val="4"/>
                <c:pt idx="0">
                  <c:v>25%</c:v>
                </c:pt>
                <c:pt idx="1">
                  <c:v>50%</c:v>
                </c:pt>
                <c:pt idx="2">
                  <c:v>75%</c:v>
                </c:pt>
                <c:pt idx="3">
                  <c:v>100%</c:v>
                </c:pt>
              </c:strCache>
            </c:strRef>
          </c:cat>
          <c:val>
            <c:numRef>
              <c:f>Sheet1!$D$2:$D$5</c:f>
              <c:numCache>
                <c:formatCode>General</c:formatCode>
                <c:ptCount val="4"/>
                <c:pt idx="0">
                  <c:v>95.87</c:v>
                </c:pt>
                <c:pt idx="1">
                  <c:v>93.67</c:v>
                </c:pt>
                <c:pt idx="2">
                  <c:v>94.51</c:v>
                </c:pt>
                <c:pt idx="3">
                  <c:v>96.7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3D4-4598-AA2E-C6FCD9335F82}"/>
            </c:ext>
          </c:extLst>
        </c:ser>
        <c:ser>
          <c:idx val="3"/>
          <c:order val="3"/>
          <c:tx>
            <c:strRef>
              <c:f>Sheet1!$E$1</c:f>
              <c:strCache>
                <c:ptCount val="1"/>
                <c:pt idx="0">
                  <c:v>bỏ local search</c:v>
                </c:pt>
              </c:strCache>
            </c:strRef>
          </c:tx>
          <c:spPr>
            <a:solidFill>
              <a:srgbClr val="E39B0B"/>
            </a:solidFill>
          </c:spPr>
          <c:invertIfNegative val="1"/>
          <c:cat>
            <c:strRef>
              <c:f>Sheet1!$A$2:$A$5</c:f>
              <c:strCache>
                <c:ptCount val="4"/>
                <c:pt idx="0">
                  <c:v>25%</c:v>
                </c:pt>
                <c:pt idx="1">
                  <c:v>50%</c:v>
                </c:pt>
                <c:pt idx="2">
                  <c:v>75%</c:v>
                </c:pt>
                <c:pt idx="3">
                  <c:v>100%</c:v>
                </c:pt>
              </c:strCache>
            </c:strRef>
          </c:cat>
          <c:val>
            <c:numRef>
              <c:f>Sheet1!$E$2:$E$5</c:f>
              <c:numCache>
                <c:formatCode>General</c:formatCode>
                <c:ptCount val="4"/>
                <c:pt idx="0">
                  <c:v>97.93</c:v>
                </c:pt>
                <c:pt idx="1">
                  <c:v>96.3</c:v>
                </c:pt>
                <c:pt idx="2">
                  <c:v>96.72</c:v>
                </c:pt>
                <c:pt idx="3">
                  <c:v>98.09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03D4-4598-AA2E-C6FCD9335F82}"/>
            </c:ext>
          </c:extLst>
        </c:ser>
        <c:ser>
          <c:idx val="4"/>
          <c:order val="4"/>
          <c:tx>
            <c:strRef>
              <c:f>Sheet1!$F$1</c:f>
              <c:strCache>
                <c:ptCount val="1"/>
                <c:pt idx="0">
                  <c:v>proposed</c:v>
                </c:pt>
              </c:strCache>
            </c:strRef>
          </c:tx>
          <c:spPr>
            <a:solidFill>
              <a:srgbClr val="C00000"/>
            </a:solidFill>
          </c:spPr>
          <c:invertIfNegative val="1"/>
          <c:cat>
            <c:strRef>
              <c:f>Sheet1!$A$2:$A$5</c:f>
              <c:strCache>
                <c:ptCount val="4"/>
                <c:pt idx="0">
                  <c:v>25%</c:v>
                </c:pt>
                <c:pt idx="1">
                  <c:v>50%</c:v>
                </c:pt>
                <c:pt idx="2">
                  <c:v>75%</c:v>
                </c:pt>
                <c:pt idx="3">
                  <c:v>100%</c:v>
                </c:pt>
              </c:strCache>
            </c:strRef>
          </c:cat>
          <c:val>
            <c:numRef>
              <c:f>Sheet1!$F$2:$F$5</c:f>
              <c:numCache>
                <c:formatCode>General</c:formatCode>
                <c:ptCount val="4"/>
                <c:pt idx="0">
                  <c:v>98.39</c:v>
                </c:pt>
                <c:pt idx="1">
                  <c:v>97.06</c:v>
                </c:pt>
                <c:pt idx="2">
                  <c:v>97.28</c:v>
                </c:pt>
                <c:pt idx="3">
                  <c:v>98.43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03D4-4598-AA2E-C6FCD9335F82}"/>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A6A6A6"/>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00"/>
          <c:min val="88"/>
        </c:scaling>
        <c:delete val="0"/>
        <c:axPos val="l"/>
        <c:majorGridlines>
          <c:spPr>
            <a:ln>
              <a:solidFill>
                <a:srgbClr val="E3E3E3"/>
              </a:solidFill>
            </a:ln>
          </c:spPr>
        </c:majorGridlines>
        <c:numFmt formatCode="0&quot;%&quot;" sourceLinked="0"/>
        <c:majorTickMark val="out"/>
        <c:minorTickMark val="none"/>
        <c:tickLblPos val="nextTo"/>
        <c:spPr>
          <a:ln>
            <a:noFill/>
          </a:ln>
        </c:spPr>
        <c:txPr>
          <a:bodyPr/>
          <a:lstStyle/>
          <a:p>
            <a:pPr>
              <a:defRPr sz="1100"/>
            </a:pPr>
            <a:endParaRPr lang="en-US"/>
          </a:p>
        </c:txPr>
        <c:crossAx val="-2068027336"/>
        <c:crosses val="autoZero"/>
        <c:crossBetween val="between"/>
        <c:majorUnit val="2"/>
      </c:valAx>
    </c:plotArea>
    <c:legend>
      <c:legendPos val="t"/>
      <c:overlay val="0"/>
      <c:txPr>
        <a:bodyPr/>
        <a:lstStyle/>
        <a:p>
          <a:pPr>
            <a:defRPr sz="1200"/>
          </a:pPr>
          <a:endParaRPr lang="en-US"/>
        </a:p>
      </c:txPr>
    </c:legend>
    <c:plotVisOnly val="1"/>
    <c:dispBlanksAs val="gap"/>
    <c:showDLblsOverMax val="1"/>
  </c:chart>
  <c:txPr>
    <a:bodyPr/>
    <a:lstStyle/>
    <a:p>
      <a:pPr>
        <a:defRPr sz="1200">
          <a:solidFill>
            <a:srgbClr val="595959"/>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13-Oct-26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13-Oct-26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Giới thiệu đề tài: định tuyến nhiều UAV sao cho phủ được nhiều vùng rủi ro nhất trong giới hạn pin của từng UAV.</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Bố cục bài trình bày gồm 5 phần.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Sau bão, cần khảo sát nhanh. UAV có pin giới hạn nên không quét hết được; phải ưu tiên ô có rủi ro cao. Hình bên phải là bản đồ rủi ro thật tạo từ một ảnh RescueNet.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Ô là vùng cần quan sát, gói là một đường bay, chi phí là pin. Ô phủ nhiều lần chỉ tính một lần. Bài toán NP-khó. Hệ quả 1 dùng để bắt lỗi code.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 1 kiểm chứng thuật toán trên benchmark đã công bố. Pha 2 áp dụng cho dữ liệu thật với ràng buộc pin riêng từng UAV.</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Greedy thuần bỏ qua chi phí nên rất kém. Ratio greedy chọn theo ô mới / chi phí. Thêm gói đơn tốt nhất để có cận Khuller–Moss–Naor. Seed và local search cải thiện thêm.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Tỉ lệ = số ô phủ / số ô phủ tối ưu theo ILP. Greedy thuần chỉ đạt khoảng 41%. Bản đầy đủ đạt 99,4–99,7%, chạy tối đa 0,17 giây; bằng ILP ở 35/135 lần.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Dùng mask phân đoạn 11 lớp của RescueNet (ảnh UAV sau bão Michael 2018). Đổi nhãn thành điểm, chia lưới 20×20, lấy trung bình. Ô điểm 0 bị loại khỏi universe. Tree = 0 để bản đồ không bị loãng.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Route là đường đi liền mạch trên lưới, sinh ngẫu nhiên lệch về ô rủi ro cao. Mỗi UAV có thể bay nhiều route miễn tổng chi phí không vượt pin của nó. Đây là mô hình tổng hợp do nhóm thiết kế.</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Proposed xét pin của từng UAV ở mọi bước. Naive giải với ngân sách chung rồi mới sửa, nên lời giải bị cắt và phải lấp lại.</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Ảnh 14071, mức pin 50%. Rủi ro tập trung trên một dải đường. Proposed dùng pin của UAV tím để bay dọc dải này và đạt tối ưu. Naive bị cắt route khi sửa ngân sách nên chỉ đạt 71,8%.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Chạy trên 350 ảnh đủ điều kiện, 4 mức pin, 1400 lần giải mỗi thuật toán. Proposed hơn naive 4,3–6,2 điểm phần trăm, thắng ở đa số instance, Wilcoxon p rất nhỏ. Validator: 8400 file, 0 lỗi.</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Bỏ từng thành phần của proposed. Bỏ seed mất nhiều hơn bỏ local search. Riêng việc xét pin từng UAV (ratio only) chỉ hơn naive khoảng 0,9–1,4 điểm; phần lớn cải thiện đến từ seed và local search.</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Proposed trung bình 46 ms mỗi lần giải. ILP giới hạn 120 giây, trung bình 3–66 giây tùy mức; 28% số ca ILP chưa chứng minh được tối ưu. Tính theo tổng CPU, proposed nhanh hơn khoảng 925 lần.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Chạy lại trên 30 ảnh với 4 cấu hình khác. Proposed luôn ≥ naive về trung bình ở mọi cấu hình, mọi mức. Ngoại lệ: lưới 10×10 mức 25%, hai thuật toán gần như bằng nhau (p = 0,32).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Những điểm cần trình bày trung thực khi bị hỏi.</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Tóm tắt đóng góp và những việc còn lại.</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Cảm ơn thầy cô và các bạn đã lắng nghe. Mời đặt câu hỏi.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13-Oct-26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13-Oct-26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13-Oct-26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13-Oct-26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13-Oct-26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13-Oct-26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13-Oct-26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13-Oct-26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13-Oct-26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13-Oct-26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83" r:id="rId7"/>
    <p:sldLayoutId id="2147483676" r:id="rId8"/>
    <p:sldLayoutId id="2147483679" r:id="rId9"/>
    <p:sldLayoutId id="2147483680" r:id="rId10"/>
    <p:sldLayoutId id="2147483681" r:id="rId11"/>
    <p:sldLayoutId id="2147483682" r:id="rId12"/>
    <p:sldLayoutId id="2147483678"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874519"/>
            <a:ext cx="7342482" cy="1463040"/>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3200" b="0" dirty="0"/>
              <a:t>Deadline-constrained multi-UAV risk coverage</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067513"/>
            <a:ext cx="7342482" cy="2136876"/>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1800" b="0" dirty="0"/>
              <a:t>IT6690 - Thiết kế và Phân tích </a:t>
            </a:r>
            <a:r>
              <a:rPr lang="en-US" sz="1800" b="0" dirty="0" err="1"/>
              <a:t>Thuật</a:t>
            </a:r>
            <a:r>
              <a:rPr lang="en-US" sz="1800" b="0" dirty="0"/>
              <a:t> </a:t>
            </a:r>
            <a:r>
              <a:rPr lang="en-US" sz="1800" b="0" dirty="0" err="1"/>
              <a:t>toán</a:t>
            </a:r>
            <a:endParaRPr lang="en-US" sz="1800" b="0" dirty="0"/>
          </a:p>
          <a:p>
            <a:endParaRPr lang="en-US" sz="1800" b="0" dirty="0"/>
          </a:p>
          <a:p>
            <a:r>
              <a:rPr lang="en-US" sz="1800" b="0" dirty="0" err="1"/>
              <a:t>Nhóm</a:t>
            </a:r>
            <a:r>
              <a:rPr lang="en-US" sz="1800" b="0" dirty="0"/>
              <a:t> 17: 	Phạm Duy Khánh – 20261087M</a:t>
            </a:r>
          </a:p>
          <a:p>
            <a:r>
              <a:rPr lang="en-US" sz="1800" b="0" dirty="0"/>
              <a:t>		Nguyễn Nho Dũng – 20261236M</a:t>
            </a:r>
          </a:p>
          <a:p>
            <a:r>
              <a:rPr lang="en-US" sz="1800" b="0" dirty="0"/>
              <a:t>		Dương Tiến Đạt – 20261265M</a:t>
            </a:r>
          </a:p>
          <a:p>
            <a:r>
              <a:rPr lang="en-US" sz="1800" b="0" dirty="0"/>
              <a:t>		Vũ Minh Long – 20261264M</a:t>
            </a:r>
          </a:p>
          <a:p>
            <a:r>
              <a:rPr lang="en-US" sz="1800" b="0" dirty="0"/>
              <a:t>		Phạm Việt Dũng – 20261090M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NỘI DUNG</a:t>
            </a:r>
          </a:p>
        </p:txBody>
      </p:sp>
      <p:sp>
        <p:nvSpPr>
          <p:cNvPr id="3" name="Oval 2"/>
          <p:cNvSpPr/>
          <p:nvPr/>
        </p:nvSpPr>
        <p:spPr>
          <a:xfrm>
            <a:off x="3596498" y="123444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1</a:t>
            </a:r>
          </a:p>
        </p:txBody>
      </p:sp>
      <p:sp>
        <p:nvSpPr>
          <p:cNvPr id="4" name="TextBox 3"/>
          <p:cNvSpPr txBox="1"/>
          <p:nvPr/>
        </p:nvSpPr>
        <p:spPr>
          <a:xfrm>
            <a:off x="4236578" y="1197864"/>
            <a:ext cx="4206240" cy="307777"/>
          </a:xfrm>
          <a:prstGeom prst="rect">
            <a:avLst/>
          </a:prstGeom>
          <a:noFill/>
        </p:spPr>
        <p:txBody>
          <a:bodyPr wrap="square" lIns="0" tIns="0" rIns="0" bIns="0" anchor="t">
            <a:spAutoFit/>
          </a:bodyPr>
          <a:lstStyle/>
          <a:p>
            <a:pPr algn="l">
              <a:spcAft>
                <a:spcPts val="600"/>
              </a:spcAft>
            </a:pP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Bài</a:t>
            </a: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toán</a:t>
            </a: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và</a:t>
            </a: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mô</a:t>
            </a: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hình</a:t>
            </a: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hóa</a:t>
            </a:r>
            <a:endParaRPr sz="2000" b="1" i="0" dirty="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5" name="TextBox 4"/>
          <p:cNvSpPr txBox="1"/>
          <p:nvPr/>
        </p:nvSpPr>
        <p:spPr>
          <a:xfrm>
            <a:off x="4236578" y="1563624"/>
            <a:ext cx="4206240" cy="215444"/>
          </a:xfrm>
          <a:prstGeom prst="rect">
            <a:avLst/>
          </a:prstGeom>
          <a:noFill/>
        </p:spPr>
        <p:txBody>
          <a:bodyPr wrap="square" lIns="0" tIns="0" rIns="0" bIns="0" anchor="t">
            <a:spAutoFit/>
          </a:bodyPr>
          <a:lstStyle/>
          <a:p>
            <a:pPr algn="l">
              <a:spcAft>
                <a:spcPts val="600"/>
              </a:spcAft>
            </a:pPr>
            <a:r>
              <a:rPr sz="1400" b="0" i="0">
                <a:solidFill>
                  <a:srgbClr val="595959"/>
                </a:solidFill>
                <a:latin typeface="Lato" panose="020F0502020204030203" pitchFamily="34" charset="0"/>
                <a:ea typeface="Lato" panose="020F0502020204030203" pitchFamily="34" charset="0"/>
                <a:cs typeface="Lato" panose="020F0502020204030203" pitchFamily="34" charset="0"/>
              </a:rPr>
              <a:t>Budgeted Maximum Coverage</a:t>
            </a:r>
          </a:p>
        </p:txBody>
      </p:sp>
      <p:sp>
        <p:nvSpPr>
          <p:cNvPr id="6" name="Oval 5"/>
          <p:cNvSpPr/>
          <p:nvPr/>
        </p:nvSpPr>
        <p:spPr>
          <a:xfrm>
            <a:off x="3596498" y="214884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2</a:t>
            </a:r>
          </a:p>
        </p:txBody>
      </p:sp>
      <p:sp>
        <p:nvSpPr>
          <p:cNvPr id="7" name="TextBox 6"/>
          <p:cNvSpPr txBox="1"/>
          <p:nvPr/>
        </p:nvSpPr>
        <p:spPr>
          <a:xfrm>
            <a:off x="4236578" y="2112264"/>
            <a:ext cx="4206240" cy="307777"/>
          </a:xfrm>
          <a:prstGeom prst="rect">
            <a:avLst/>
          </a:prstGeom>
          <a:noFill/>
        </p:spPr>
        <p:txBody>
          <a:bodyPr wrap="square" lIns="0" tIns="0" rIns="0" bIns="0" anchor="t">
            <a:spAutoFit/>
          </a:bodyPr>
          <a:lstStyle/>
          <a:p>
            <a:pPr algn="l">
              <a:spcAft>
                <a:spcPts val="600"/>
              </a:spcAft>
            </a:pP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Pha 1: OR-Library</a:t>
            </a:r>
          </a:p>
        </p:txBody>
      </p:sp>
      <p:sp>
        <p:nvSpPr>
          <p:cNvPr id="8" name="TextBox 7"/>
          <p:cNvSpPr txBox="1"/>
          <p:nvPr/>
        </p:nvSpPr>
        <p:spPr>
          <a:xfrm>
            <a:off x="4236578" y="2478024"/>
            <a:ext cx="4206240" cy="215444"/>
          </a:xfrm>
          <a:prstGeom prst="rect">
            <a:avLst/>
          </a:prstGeom>
          <a:noFill/>
        </p:spPr>
        <p:txBody>
          <a:bodyPr wrap="square" lIns="0" tIns="0" rIns="0" bIns="0" anchor="t">
            <a:spAutoFit/>
          </a:bodyPr>
          <a:lstStyle/>
          <a:p>
            <a:pPr algn="l">
              <a:spcAft>
                <a:spcPts val="600"/>
              </a:spcAft>
            </a:pPr>
            <a:r>
              <a:rPr sz="1400" b="0" i="0">
                <a:solidFill>
                  <a:srgbClr val="595959"/>
                </a:solidFill>
                <a:latin typeface="Lato" panose="020F0502020204030203" pitchFamily="34" charset="0"/>
                <a:ea typeface="Lato" panose="020F0502020204030203" pitchFamily="34" charset="0"/>
                <a:cs typeface="Lato" panose="020F0502020204030203" pitchFamily="34" charset="0"/>
              </a:rPr>
              <a:t>Một ngân sách chung, so với ILP</a:t>
            </a:r>
          </a:p>
        </p:txBody>
      </p:sp>
      <p:sp>
        <p:nvSpPr>
          <p:cNvPr id="9" name="Oval 8"/>
          <p:cNvSpPr/>
          <p:nvPr/>
        </p:nvSpPr>
        <p:spPr>
          <a:xfrm>
            <a:off x="3596498" y="306324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3</a:t>
            </a:r>
          </a:p>
        </p:txBody>
      </p:sp>
      <p:sp>
        <p:nvSpPr>
          <p:cNvPr id="10" name="TextBox 9"/>
          <p:cNvSpPr txBox="1"/>
          <p:nvPr/>
        </p:nvSpPr>
        <p:spPr>
          <a:xfrm>
            <a:off x="4236578" y="3026664"/>
            <a:ext cx="4206240" cy="307777"/>
          </a:xfrm>
          <a:prstGeom prst="rect">
            <a:avLst/>
          </a:prstGeom>
          <a:noFill/>
        </p:spPr>
        <p:txBody>
          <a:bodyPr wrap="square" lIns="0" tIns="0" rIns="0" bIns="0" anchor="t">
            <a:spAutoFit/>
          </a:bodyPr>
          <a:lstStyle/>
          <a:p>
            <a:pPr algn="l">
              <a:spcAft>
                <a:spcPts val="600"/>
              </a:spcAft>
            </a:pP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Pha 2: </a:t>
            </a: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RescueNet</a:t>
            </a: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 multi-UAV</a:t>
            </a:r>
          </a:p>
        </p:txBody>
      </p:sp>
      <p:sp>
        <p:nvSpPr>
          <p:cNvPr id="11" name="TextBox 10"/>
          <p:cNvSpPr txBox="1"/>
          <p:nvPr/>
        </p:nvSpPr>
        <p:spPr>
          <a:xfrm>
            <a:off x="4236578" y="3392424"/>
            <a:ext cx="4206240" cy="215444"/>
          </a:xfrm>
          <a:prstGeom prst="rect">
            <a:avLst/>
          </a:prstGeom>
          <a:noFill/>
        </p:spPr>
        <p:txBody>
          <a:bodyPr wrap="square" lIns="0" tIns="0" rIns="0" bIns="0" anchor="t">
            <a:spAutoFit/>
          </a:bodyPr>
          <a:lstStyle/>
          <a:p>
            <a:pPr algn="l">
              <a:spcAft>
                <a:spcPts val="600"/>
              </a:spcAft>
            </a:pPr>
            <a:r>
              <a:rPr sz="1400" b="0" i="0">
                <a:solidFill>
                  <a:srgbClr val="595959"/>
                </a:solidFill>
                <a:latin typeface="Lato" panose="020F0502020204030203" pitchFamily="34" charset="0"/>
                <a:ea typeface="Lato" panose="020F0502020204030203" pitchFamily="34" charset="0"/>
                <a:cs typeface="Lato" panose="020F0502020204030203" pitchFamily="34" charset="0"/>
              </a:rPr>
              <a:t>Bản đồ rủi ro thật, pin riêng từng UAV</a:t>
            </a:r>
          </a:p>
        </p:txBody>
      </p:sp>
      <p:sp>
        <p:nvSpPr>
          <p:cNvPr id="12" name="Oval 11"/>
          <p:cNvSpPr/>
          <p:nvPr/>
        </p:nvSpPr>
        <p:spPr>
          <a:xfrm>
            <a:off x="3596498" y="3977639"/>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4</a:t>
            </a:r>
          </a:p>
        </p:txBody>
      </p:sp>
      <p:sp>
        <p:nvSpPr>
          <p:cNvPr id="13" name="TextBox 12"/>
          <p:cNvSpPr txBox="1"/>
          <p:nvPr/>
        </p:nvSpPr>
        <p:spPr>
          <a:xfrm>
            <a:off x="4236578" y="3941063"/>
            <a:ext cx="4206240" cy="307777"/>
          </a:xfrm>
          <a:prstGeom prst="rect">
            <a:avLst/>
          </a:prstGeom>
          <a:noFill/>
        </p:spPr>
        <p:txBody>
          <a:bodyPr wrap="square" lIns="0" tIns="0" rIns="0" bIns="0" anchor="t">
            <a:spAutoFit/>
          </a:bodyPr>
          <a:lstStyle/>
          <a:p>
            <a:pPr algn="l">
              <a:spcAft>
                <a:spcPts val="600"/>
              </a:spcAft>
            </a:pP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Kết</a:t>
            </a: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quả</a:t>
            </a: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thực</a:t>
            </a:r>
            <a:r>
              <a:rPr sz="2000" b="1"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2000" b="1" i="0" dirty="0" err="1">
                <a:solidFill>
                  <a:srgbClr val="262626"/>
                </a:solidFill>
                <a:latin typeface="Lato" panose="020F0502020204030203" pitchFamily="34" charset="0"/>
                <a:ea typeface="Lato" panose="020F0502020204030203" pitchFamily="34" charset="0"/>
                <a:cs typeface="Lato" panose="020F0502020204030203" pitchFamily="34" charset="0"/>
              </a:rPr>
              <a:t>nghiệm</a:t>
            </a:r>
            <a:endParaRPr sz="2000" b="1" i="0" dirty="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14" name="TextBox 13"/>
          <p:cNvSpPr txBox="1"/>
          <p:nvPr/>
        </p:nvSpPr>
        <p:spPr>
          <a:xfrm>
            <a:off x="4236578" y="4306824"/>
            <a:ext cx="4206240" cy="215444"/>
          </a:xfrm>
          <a:prstGeom prst="rect">
            <a:avLst/>
          </a:prstGeom>
          <a:noFill/>
        </p:spPr>
        <p:txBody>
          <a:bodyPr wrap="square" lIns="0" tIns="0" rIns="0" bIns="0" anchor="t">
            <a:spAutoFit/>
          </a:bodyPr>
          <a:lstStyle/>
          <a:p>
            <a:pPr algn="l">
              <a:spcAft>
                <a:spcPts val="600"/>
              </a:spcAft>
            </a:pPr>
            <a:r>
              <a:rPr sz="1400" b="0" i="0">
                <a:solidFill>
                  <a:srgbClr val="595959"/>
                </a:solidFill>
                <a:latin typeface="Lato" panose="020F0502020204030203" pitchFamily="34" charset="0"/>
                <a:ea typeface="Lato" panose="020F0502020204030203" pitchFamily="34" charset="0"/>
                <a:cs typeface="Lato" panose="020F0502020204030203" pitchFamily="34" charset="0"/>
              </a:rPr>
              <a:t>350 ảnh, ablation, thời gian, độ nhạy</a:t>
            </a:r>
          </a:p>
        </p:txBody>
      </p:sp>
      <p:sp>
        <p:nvSpPr>
          <p:cNvPr id="15" name="Oval 14"/>
          <p:cNvSpPr/>
          <p:nvPr/>
        </p:nvSpPr>
        <p:spPr>
          <a:xfrm>
            <a:off x="3596498" y="489204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5</a:t>
            </a:r>
          </a:p>
        </p:txBody>
      </p:sp>
      <p:sp>
        <p:nvSpPr>
          <p:cNvPr id="16" name="TextBox 15"/>
          <p:cNvSpPr txBox="1"/>
          <p:nvPr/>
        </p:nvSpPr>
        <p:spPr>
          <a:xfrm>
            <a:off x="4236578" y="4855464"/>
            <a:ext cx="4206240" cy="307777"/>
          </a:xfrm>
          <a:prstGeom prst="rect">
            <a:avLst/>
          </a:prstGeom>
          <a:noFill/>
        </p:spPr>
        <p:txBody>
          <a:bodyPr wrap="square" lIns="0" tIns="0" rIns="0" bIns="0" anchor="t">
            <a:spAutoFit/>
          </a:bodyPr>
          <a:lstStyle/>
          <a:p>
            <a:pPr algn="l">
              <a:spcAft>
                <a:spcPts val="600"/>
              </a:spcAft>
            </a:pPr>
            <a:r>
              <a:rPr sz="2000" b="1" i="0">
                <a:solidFill>
                  <a:srgbClr val="262626"/>
                </a:solidFill>
                <a:latin typeface="Lato" panose="020F0502020204030203" pitchFamily="34" charset="0"/>
                <a:ea typeface="Lato" panose="020F0502020204030203" pitchFamily="34" charset="0"/>
                <a:cs typeface="Lato" panose="020F0502020204030203" pitchFamily="34" charset="0"/>
              </a:rPr>
              <a:t>Giới hạn và kết luận</a:t>
            </a:r>
          </a:p>
        </p:txBody>
      </p:sp>
      <p:sp>
        <p:nvSpPr>
          <p:cNvPr id="17" name="TextBox 16"/>
          <p:cNvSpPr txBox="1"/>
          <p:nvPr/>
        </p:nvSpPr>
        <p:spPr>
          <a:xfrm>
            <a:off x="4236578" y="5221224"/>
            <a:ext cx="4206240" cy="215444"/>
          </a:xfrm>
          <a:prstGeom prst="rect">
            <a:avLst/>
          </a:prstGeom>
          <a:noFill/>
        </p:spPr>
        <p:txBody>
          <a:bodyPr wrap="square" lIns="0" tIns="0" rIns="0" bIns="0" anchor="t">
            <a:spAutoFit/>
          </a:bodyPr>
          <a:lstStyle/>
          <a:p>
            <a:pPr algn="l">
              <a:spcAft>
                <a:spcPts val="600"/>
              </a:spcAft>
            </a:pPr>
            <a:r>
              <a:rPr sz="1400" b="0" i="0">
                <a:solidFill>
                  <a:srgbClr val="595959"/>
                </a:solidFill>
                <a:latin typeface="Lato" panose="020F0502020204030203" pitchFamily="34" charset="0"/>
                <a:ea typeface="Lato" panose="020F0502020204030203" pitchFamily="34" charset="0"/>
                <a:cs typeface="Lato" panose="020F0502020204030203" pitchFamily="34" charset="0"/>
              </a:rPr>
              <a:t>Những điều cần nói rõ</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Bối cảnh: khảo sát sau thiên tai bằng UAV</a:t>
            </a:r>
          </a:p>
        </p:txBody>
      </p:sp>
      <p:sp>
        <p:nvSpPr>
          <p:cNvPr id="14"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Oval 2"/>
          <p:cNvSpPr/>
          <p:nvPr/>
        </p:nvSpPr>
        <p:spPr>
          <a:xfrm>
            <a:off x="457200" y="1097280"/>
            <a:ext cx="438912" cy="43891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1</a:t>
            </a:r>
          </a:p>
        </p:txBody>
      </p:sp>
      <p:sp>
        <p:nvSpPr>
          <p:cNvPr id="4" name="TextBox 3"/>
          <p:cNvSpPr txBox="1"/>
          <p:nvPr/>
        </p:nvSpPr>
        <p:spPr>
          <a:xfrm>
            <a:off x="1051560" y="1078992"/>
            <a:ext cx="3291840" cy="276999"/>
          </a:xfrm>
          <a:prstGeom prst="rect">
            <a:avLst/>
          </a:prstGeom>
          <a:noFill/>
        </p:spPr>
        <p:txBody>
          <a:bodyPr wrap="square" lIns="0" tIns="0" rIns="0" bIns="0" anchor="t">
            <a:spAutoFit/>
          </a:bodyPr>
          <a:lstStyle/>
          <a:p>
            <a:pPr algn="l">
              <a:spcAft>
                <a:spcPts val="600"/>
              </a:spcAft>
            </a:pPr>
            <a:r>
              <a:rPr sz="1800" b="1" i="0" dirty="0" err="1">
                <a:solidFill>
                  <a:srgbClr val="262626"/>
                </a:solidFill>
                <a:latin typeface="Lato" panose="020F0502020204030203" pitchFamily="34" charset="0"/>
                <a:ea typeface="Lato" panose="020F0502020204030203" pitchFamily="34" charset="0"/>
                <a:cs typeface="Lato" panose="020F0502020204030203" pitchFamily="34" charset="0"/>
              </a:rPr>
              <a:t>Cần</a:t>
            </a:r>
            <a:r>
              <a:rPr sz="1800" b="1"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800" b="1" i="0" dirty="0" err="1">
                <a:solidFill>
                  <a:srgbClr val="262626"/>
                </a:solidFill>
                <a:latin typeface="Lato" panose="020F0502020204030203" pitchFamily="34" charset="0"/>
                <a:ea typeface="Lato" panose="020F0502020204030203" pitchFamily="34" charset="0"/>
                <a:cs typeface="Lato" panose="020F0502020204030203" pitchFamily="34" charset="0"/>
              </a:rPr>
              <a:t>thông</a:t>
            </a:r>
            <a:r>
              <a:rPr sz="1800" b="1" i="0" dirty="0">
                <a:solidFill>
                  <a:srgbClr val="262626"/>
                </a:solidFill>
                <a:latin typeface="Lato" panose="020F0502020204030203" pitchFamily="34" charset="0"/>
                <a:ea typeface="Lato" panose="020F0502020204030203" pitchFamily="34" charset="0"/>
                <a:cs typeface="Lato" panose="020F0502020204030203" pitchFamily="34" charset="0"/>
              </a:rPr>
              <a:t> tin </a:t>
            </a:r>
            <a:r>
              <a:rPr sz="1800" b="1" i="0" dirty="0" err="1">
                <a:solidFill>
                  <a:srgbClr val="262626"/>
                </a:solidFill>
                <a:latin typeface="Lato" panose="020F0502020204030203" pitchFamily="34" charset="0"/>
                <a:ea typeface="Lato" panose="020F0502020204030203" pitchFamily="34" charset="0"/>
                <a:cs typeface="Lato" panose="020F0502020204030203" pitchFamily="34" charset="0"/>
              </a:rPr>
              <a:t>nhanh</a:t>
            </a:r>
            <a:endParaRPr sz="1800" b="1" i="0" dirty="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5" name="TextBox 4"/>
          <p:cNvSpPr txBox="1"/>
          <p:nvPr/>
        </p:nvSpPr>
        <p:spPr>
          <a:xfrm>
            <a:off x="1051560" y="1463040"/>
            <a:ext cx="3291840" cy="461665"/>
          </a:xfrm>
          <a:prstGeom prst="rect">
            <a:avLst/>
          </a:prstGeom>
          <a:noFill/>
        </p:spPr>
        <p:txBody>
          <a:bodyPr wrap="square" lIns="0" tIns="0" rIns="0" bIns="0" anchor="t">
            <a:spAutoFit/>
          </a:bodyPr>
          <a:lstStyle/>
          <a:p>
            <a:pPr algn="l">
              <a:spcAft>
                <a:spcPts val="600"/>
              </a:spcAft>
            </a:pP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Sau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thiên</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tai,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lực</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lượng</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cứu</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hộ</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cần</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biết</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khu</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vực</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nào</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hư</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hại</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 </a:t>
            </a:r>
            <a:r>
              <a:rPr sz="1500" b="0" i="0" dirty="0" err="1">
                <a:solidFill>
                  <a:srgbClr val="595959"/>
                </a:solidFill>
                <a:latin typeface="Lato" panose="020F0502020204030203" pitchFamily="34" charset="0"/>
                <a:ea typeface="Lato" panose="020F0502020204030203" pitchFamily="34" charset="0"/>
                <a:cs typeface="Lato" panose="020F0502020204030203" pitchFamily="34" charset="0"/>
              </a:rPr>
              <a:t>nặng</a:t>
            </a:r>
            <a:r>
              <a:rPr sz="1500" b="0" i="0" dirty="0">
                <a:solidFill>
                  <a:srgbClr val="595959"/>
                </a:solidFill>
                <a:latin typeface="Lato" panose="020F0502020204030203" pitchFamily="34" charset="0"/>
                <a:ea typeface="Lato" panose="020F0502020204030203" pitchFamily="34" charset="0"/>
                <a:cs typeface="Lato" panose="020F0502020204030203" pitchFamily="34" charset="0"/>
              </a:rPr>
              <a:t>.</a:t>
            </a:r>
          </a:p>
        </p:txBody>
      </p:sp>
      <p:sp>
        <p:nvSpPr>
          <p:cNvPr id="6" name="Oval 5"/>
          <p:cNvSpPr/>
          <p:nvPr/>
        </p:nvSpPr>
        <p:spPr>
          <a:xfrm>
            <a:off x="457200" y="2514600"/>
            <a:ext cx="438912" cy="43891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2</a:t>
            </a:r>
          </a:p>
        </p:txBody>
      </p:sp>
      <p:sp>
        <p:nvSpPr>
          <p:cNvPr id="7" name="TextBox 6"/>
          <p:cNvSpPr txBox="1"/>
          <p:nvPr/>
        </p:nvSpPr>
        <p:spPr>
          <a:xfrm>
            <a:off x="1051560" y="2496312"/>
            <a:ext cx="3291840" cy="276999"/>
          </a:xfrm>
          <a:prstGeom prst="rect">
            <a:avLst/>
          </a:prstGeom>
          <a:noFill/>
        </p:spPr>
        <p:txBody>
          <a:bodyPr wrap="square" lIns="0" tIns="0" rIns="0" bIns="0" anchor="t">
            <a:spAutoFit/>
          </a:bodyPr>
          <a:lstStyle/>
          <a:p>
            <a:pPr algn="l">
              <a:spcAft>
                <a:spcPts val="600"/>
              </a:spcAft>
            </a:pPr>
            <a:r>
              <a:rPr sz="1800" b="1" i="0" dirty="0">
                <a:solidFill>
                  <a:srgbClr val="262626"/>
                </a:solidFill>
                <a:latin typeface="Lato" panose="020F0502020204030203" pitchFamily="34" charset="0"/>
                <a:ea typeface="Lato" panose="020F0502020204030203" pitchFamily="34" charset="0"/>
                <a:cs typeface="Lato" panose="020F0502020204030203" pitchFamily="34" charset="0"/>
              </a:rPr>
              <a:t>Pin UAV </a:t>
            </a:r>
            <a:r>
              <a:rPr sz="1800" b="1" i="0" dirty="0" err="1">
                <a:solidFill>
                  <a:srgbClr val="262626"/>
                </a:solidFill>
                <a:latin typeface="Lato" panose="020F0502020204030203" pitchFamily="34" charset="0"/>
                <a:ea typeface="Lato" panose="020F0502020204030203" pitchFamily="34" charset="0"/>
                <a:cs typeface="Lato" panose="020F0502020204030203" pitchFamily="34" charset="0"/>
              </a:rPr>
              <a:t>có</a:t>
            </a:r>
            <a:r>
              <a:rPr sz="1800" b="1"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800" b="1" i="0" dirty="0" err="1">
                <a:solidFill>
                  <a:srgbClr val="262626"/>
                </a:solidFill>
                <a:latin typeface="Lato" panose="020F0502020204030203" pitchFamily="34" charset="0"/>
                <a:ea typeface="Lato" panose="020F0502020204030203" pitchFamily="34" charset="0"/>
                <a:cs typeface="Lato" panose="020F0502020204030203" pitchFamily="34" charset="0"/>
              </a:rPr>
              <a:t>hạn</a:t>
            </a:r>
            <a:endParaRPr sz="1800" b="1" i="0" dirty="0">
              <a:solidFill>
                <a:srgbClr val="262626"/>
              </a:solidFill>
              <a:latin typeface="Lato" panose="020F0502020204030203" pitchFamily="34" charset="0"/>
              <a:ea typeface="Lato" panose="020F0502020204030203" pitchFamily="34" charset="0"/>
              <a:cs typeface="Lato" panose="020F0502020204030203" pitchFamily="34" charset="0"/>
            </a:endParaRPr>
          </a:p>
        </p:txBody>
      </p:sp>
      <p:sp>
        <p:nvSpPr>
          <p:cNvPr id="8" name="TextBox 7"/>
          <p:cNvSpPr txBox="1"/>
          <p:nvPr/>
        </p:nvSpPr>
        <p:spPr>
          <a:xfrm>
            <a:off x="1051560" y="2880360"/>
            <a:ext cx="3291840" cy="461665"/>
          </a:xfrm>
          <a:prstGeom prst="rect">
            <a:avLst/>
          </a:prstGeom>
          <a:noFill/>
        </p:spPr>
        <p:txBody>
          <a:bodyPr wrap="square" lIns="0" tIns="0" rIns="0" bIns="0" anchor="t">
            <a:spAutoFit/>
          </a:bodyPr>
          <a:lstStyle/>
          <a:p>
            <a:pPr algn="l">
              <a:spcAft>
                <a:spcPts val="600"/>
              </a:spcAft>
            </a:pPr>
            <a:r>
              <a:rPr sz="1500" b="0" i="0">
                <a:solidFill>
                  <a:srgbClr val="595959"/>
                </a:solidFill>
                <a:latin typeface="Lato" panose="020F0502020204030203" pitchFamily="34" charset="0"/>
                <a:ea typeface="Lato" panose="020F0502020204030203" pitchFamily="34" charset="0"/>
                <a:cs typeface="Lato" panose="020F0502020204030203" pitchFamily="34" charset="0"/>
              </a:rPr>
              <a:t>Mỗi UAV chỉ bay được một quãng nhất định trước khi hết pin.</a:t>
            </a:r>
          </a:p>
        </p:txBody>
      </p:sp>
      <p:sp>
        <p:nvSpPr>
          <p:cNvPr id="9" name="Oval 8"/>
          <p:cNvSpPr/>
          <p:nvPr/>
        </p:nvSpPr>
        <p:spPr>
          <a:xfrm>
            <a:off x="457200" y="3931920"/>
            <a:ext cx="438912" cy="43891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3</a:t>
            </a:r>
          </a:p>
        </p:txBody>
      </p:sp>
      <p:sp>
        <p:nvSpPr>
          <p:cNvPr id="10" name="TextBox 9"/>
          <p:cNvSpPr txBox="1"/>
          <p:nvPr/>
        </p:nvSpPr>
        <p:spPr>
          <a:xfrm>
            <a:off x="1051560" y="3913632"/>
            <a:ext cx="3291840" cy="276999"/>
          </a:xfrm>
          <a:prstGeom prst="rect">
            <a:avLst/>
          </a:prstGeom>
          <a:noFill/>
        </p:spPr>
        <p:txBody>
          <a:bodyPr wrap="square" lIns="0" tIns="0" rIns="0" bIns="0" anchor="t">
            <a:spAutoFit/>
          </a:bodyPr>
          <a:lstStyle/>
          <a:p>
            <a:pPr algn="l">
              <a:spcAft>
                <a:spcPts val="600"/>
              </a:spcAft>
            </a:pPr>
            <a:r>
              <a:rPr sz="1800" b="1" i="0">
                <a:solidFill>
                  <a:srgbClr val="262626"/>
                </a:solidFill>
                <a:latin typeface="Lato" panose="020F0502020204030203" pitchFamily="34" charset="0"/>
                <a:ea typeface="Lato" panose="020F0502020204030203" pitchFamily="34" charset="0"/>
                <a:cs typeface="Lato" panose="020F0502020204030203" pitchFamily="34" charset="0"/>
              </a:rPr>
              <a:t>Không quét hết</a:t>
            </a:r>
          </a:p>
        </p:txBody>
      </p:sp>
      <p:sp>
        <p:nvSpPr>
          <p:cNvPr id="11" name="TextBox 10"/>
          <p:cNvSpPr txBox="1"/>
          <p:nvPr/>
        </p:nvSpPr>
        <p:spPr>
          <a:xfrm>
            <a:off x="1051560" y="4297680"/>
            <a:ext cx="3291840" cy="461665"/>
          </a:xfrm>
          <a:prstGeom prst="rect">
            <a:avLst/>
          </a:prstGeom>
          <a:noFill/>
        </p:spPr>
        <p:txBody>
          <a:bodyPr wrap="square" lIns="0" tIns="0" rIns="0" bIns="0" anchor="t">
            <a:spAutoFit/>
          </a:bodyPr>
          <a:lstStyle/>
          <a:p>
            <a:pPr algn="l">
              <a:spcAft>
                <a:spcPts val="600"/>
              </a:spcAft>
            </a:pPr>
            <a:r>
              <a:rPr sz="1500" b="0" i="0">
                <a:solidFill>
                  <a:srgbClr val="595959"/>
                </a:solidFill>
                <a:latin typeface="Lato" panose="020F0502020204030203" pitchFamily="34" charset="0"/>
                <a:ea typeface="Lato" panose="020F0502020204030203" pitchFamily="34" charset="0"/>
                <a:cs typeface="Lato" panose="020F0502020204030203" pitchFamily="34" charset="0"/>
              </a:rPr>
              <a:t>Chỉ chọn đường bay đi qua nhiều vùng rủi ro cao nhất.</a:t>
            </a:r>
          </a:p>
        </p:txBody>
      </p:sp>
      <p:pic>
        <p:nvPicPr>
          <p:cNvPr id="12" name="Picture 11" descr="risk_map.png"/>
          <p:cNvPicPr>
            <a:picLocks noChangeAspect="1"/>
          </p:cNvPicPr>
          <p:nvPr/>
        </p:nvPicPr>
        <p:blipFill>
          <a:blip r:embed="rId3"/>
          <a:stretch>
            <a:fillRect/>
          </a:stretch>
        </p:blipFill>
        <p:spPr>
          <a:xfrm>
            <a:off x="4617720" y="1051560"/>
            <a:ext cx="4023360" cy="4023360"/>
          </a:xfrm>
          <a:prstGeom prst="rect">
            <a:avLst/>
          </a:prstGeom>
        </p:spPr>
      </p:pic>
      <p:sp>
        <p:nvSpPr>
          <p:cNvPr id="13" name="TextBox 12"/>
          <p:cNvSpPr txBox="1"/>
          <p:nvPr/>
        </p:nvSpPr>
        <p:spPr>
          <a:xfrm>
            <a:off x="4617720" y="5166360"/>
            <a:ext cx="4023360" cy="338554"/>
          </a:xfrm>
          <a:prstGeom prst="rect">
            <a:avLst/>
          </a:prstGeom>
          <a:noFill/>
        </p:spPr>
        <p:txBody>
          <a:bodyPr wrap="square" lIns="0" tIns="0" rIns="0" bIns="0" anchor="t">
            <a:spAutoFit/>
          </a:bodyPr>
          <a:lstStyle/>
          <a:p>
            <a:pPr algn="l">
              <a:spcAft>
                <a:spcPts val="600"/>
              </a:spcAft>
            </a:pPr>
            <a:r>
              <a:rPr sz="1100" b="0" i="0">
                <a:solidFill>
                  <a:srgbClr val="595959"/>
                </a:solidFill>
                <a:latin typeface="Lato" panose="020F0502020204030203" pitchFamily="34" charset="0"/>
                <a:ea typeface="Lato" panose="020F0502020204030203" pitchFamily="34" charset="0"/>
                <a:cs typeface="Lato" panose="020F0502020204030203" pitchFamily="34" charset="0"/>
              </a:rPr>
              <a:t>Bản đồ rủi ro lưới 20×20 từ ảnh RescueNet 11702. Ô đỏ đậm: hư hại nặng. Chấm tròn: điểm xuất phát của 4 UAV.</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Mô hình hóa bài toán</a:t>
            </a:r>
          </a:p>
        </p:txBody>
      </p:sp>
      <p:sp>
        <p:nvSpPr>
          <p:cNvPr id="11"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3" name="Rounded Rectangle 2"/>
          <p:cNvSpPr/>
          <p:nvPr/>
        </p:nvSpPr>
        <p:spPr>
          <a:xfrm>
            <a:off x="457200" y="1005840"/>
            <a:ext cx="8229600" cy="141732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4" name="TextBox 3"/>
          <p:cNvSpPr txBox="1"/>
          <p:nvPr/>
        </p:nvSpPr>
        <p:spPr>
          <a:xfrm>
            <a:off x="685800" y="1115568"/>
            <a:ext cx="7772400" cy="230832"/>
          </a:xfrm>
          <a:prstGeom prst="rect">
            <a:avLst/>
          </a:prstGeom>
          <a:noFill/>
        </p:spPr>
        <p:txBody>
          <a:bodyPr wrap="square" lIns="0" tIns="0" rIns="0" bIns="0" anchor="t">
            <a:spAutoFit/>
          </a:bodyPr>
          <a:lstStyle/>
          <a:p>
            <a:pPr algn="l">
              <a:spcAft>
                <a:spcPts val="600"/>
              </a:spcAft>
            </a:pPr>
            <a:r>
              <a:rPr sz="1500" b="1" i="0">
                <a:solidFill>
                  <a:srgbClr val="C00000"/>
                </a:solidFill>
                <a:latin typeface="Lato" panose="020F0502020204030203" pitchFamily="34" charset="0"/>
                <a:ea typeface="Lato" panose="020F0502020204030203" pitchFamily="34" charset="0"/>
                <a:cs typeface="Lato" panose="020F0502020204030203" pitchFamily="34" charset="0"/>
              </a:rPr>
              <a:t>Budgeted Maximum Coverage</a:t>
            </a:r>
          </a:p>
        </p:txBody>
      </p:sp>
      <p:sp>
        <p:nvSpPr>
          <p:cNvPr id="5" name="TextBox 4"/>
          <p:cNvSpPr txBox="1"/>
          <p:nvPr/>
        </p:nvSpPr>
        <p:spPr>
          <a:xfrm>
            <a:off x="685800" y="1463040"/>
            <a:ext cx="7772400" cy="461665"/>
          </a:xfrm>
          <a:prstGeom prst="rect">
            <a:avLst/>
          </a:prstGeom>
          <a:noFill/>
        </p:spPr>
        <p:txBody>
          <a:bodyPr wrap="square" lIns="0" tIns="0" rIns="0" bIns="0" anchor="t">
            <a:spAutoFit/>
          </a:bodyPr>
          <a:lstStyle/>
          <a:p>
            <a:pPr algn="l">
              <a:spcAft>
                <a:spcPts val="600"/>
              </a:spcAft>
            </a:pPr>
            <a:r>
              <a:rPr sz="1500" b="0" i="0">
                <a:solidFill>
                  <a:srgbClr val="262626"/>
                </a:solidFill>
                <a:latin typeface="Lato" panose="020F0502020204030203" pitchFamily="34" charset="0"/>
                <a:ea typeface="Lato" panose="020F0502020204030203" pitchFamily="34" charset="0"/>
                <a:cs typeface="Lato" panose="020F0502020204030203" pitchFamily="34" charset="0"/>
              </a:rPr>
              <a:t>Cho m ô và n gói. Gói j có chi phí cⱼ &gt; 0 và phủ tập ô Sⱼ. Chọn tập gói X sao cho tổng chi phí ≤ B và tổng trọng số các ô được phủ là lớn nhất. Ô phủ nhiều lần chỉ tính một lần.</a:t>
            </a:r>
          </a:p>
        </p:txBody>
      </p:sp>
      <p:graphicFrame>
        <p:nvGraphicFramePr>
          <p:cNvPr id="6" name="Table 5"/>
          <p:cNvGraphicFramePr>
            <a:graphicFrameLocks noGrp="1"/>
          </p:cNvGraphicFramePr>
          <p:nvPr/>
        </p:nvGraphicFramePr>
        <p:xfrm>
          <a:off x="457200" y="2697480"/>
          <a:ext cx="4937760" cy="2017776"/>
        </p:xfrm>
        <a:graphic>
          <a:graphicData uri="http://schemas.openxmlformats.org/drawingml/2006/table">
            <a:tbl>
              <a:tblPr firstRow="1">
                <a:tableStyleId>{5940675A-B579-460E-94D1-54222C63F5DA}</a:tableStyleId>
              </a:tblPr>
              <a:tblGrid>
                <a:gridCol w="16459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384048">
                <a:tc>
                  <a:txBody>
                    <a:bodyPr/>
                    <a:lstStyle/>
                    <a:p>
                      <a:pPr algn="l"/>
                      <a:r>
                        <a:rPr sz="1400" b="1">
                          <a:solidFill>
                            <a:srgbClr val="FFFFFF"/>
                          </a:solidFill>
                          <a:latin typeface="Calibri"/>
                        </a:rPr>
                        <a:t>Khái niệm toán</a:t>
                      </a:r>
                    </a:p>
                  </a:txBody>
                  <a:tcPr marL="54864" marR="54864" marT="27432" marB="27432" anchor="ctr">
                    <a:solidFill>
                      <a:srgbClr val="C00000"/>
                    </a:solidFill>
                  </a:tcPr>
                </a:tc>
                <a:tc>
                  <a:txBody>
                    <a:bodyPr/>
                    <a:lstStyle/>
                    <a:p>
                      <a:pPr algn="ctr"/>
                      <a:r>
                        <a:rPr sz="1400" b="1">
                          <a:solidFill>
                            <a:srgbClr val="FFFFFF"/>
                          </a:solidFill>
                          <a:latin typeface="Calibri"/>
                        </a:rPr>
                        <a:t>Ý nghĩa với UAV</a:t>
                      </a:r>
                    </a:p>
                  </a:txBody>
                  <a:tcPr marL="54864" marR="54864" marT="27432" marB="27432" anchor="ctr">
                    <a:solidFill>
                      <a:srgbClr val="C00000"/>
                    </a:solidFill>
                  </a:tcPr>
                </a:tc>
                <a:extLst>
                  <a:ext uri="{0D108BD9-81ED-4DB2-BD59-A6C34878D82A}">
                    <a16:rowId xmlns:a16="http://schemas.microsoft.com/office/drawing/2014/main" val="10000"/>
                  </a:ext>
                </a:extLst>
              </a:tr>
              <a:tr h="384048">
                <a:tc>
                  <a:txBody>
                    <a:bodyPr/>
                    <a:lstStyle/>
                    <a:p>
                      <a:pPr algn="l"/>
                      <a:r>
                        <a:rPr sz="1400" b="0">
                          <a:solidFill>
                            <a:srgbClr val="262626"/>
                          </a:solidFill>
                          <a:latin typeface="Calibri"/>
                        </a:rPr>
                        <a:t>Ô (phần tử)</a:t>
                      </a:r>
                    </a:p>
                  </a:txBody>
                  <a:tcPr marL="54864" marR="54864" marT="27432" marB="27432" anchor="ctr">
                    <a:solidFill>
                      <a:srgbClr val="FFFFFF"/>
                    </a:solidFill>
                  </a:tcPr>
                </a:tc>
                <a:tc>
                  <a:txBody>
                    <a:bodyPr/>
                    <a:lstStyle/>
                    <a:p>
                      <a:pPr algn="ctr"/>
                      <a:r>
                        <a:rPr sz="1400" b="0">
                          <a:solidFill>
                            <a:srgbClr val="262626"/>
                          </a:solidFill>
                          <a:latin typeface="Calibri"/>
                        </a:rPr>
                        <a:t>Vùng cần quan sát, có điểm rủi ro</a:t>
                      </a:r>
                    </a:p>
                  </a:txBody>
                  <a:tcPr marL="54864" marR="54864" marT="27432" marB="27432" anchor="ctr">
                    <a:solidFill>
                      <a:srgbClr val="FFFFFF"/>
                    </a:solidFill>
                  </a:tcPr>
                </a:tc>
                <a:extLst>
                  <a:ext uri="{0D108BD9-81ED-4DB2-BD59-A6C34878D82A}">
                    <a16:rowId xmlns:a16="http://schemas.microsoft.com/office/drawing/2014/main" val="10001"/>
                  </a:ext>
                </a:extLst>
              </a:tr>
              <a:tr h="384048">
                <a:tc>
                  <a:txBody>
                    <a:bodyPr/>
                    <a:lstStyle/>
                    <a:p>
                      <a:pPr algn="l"/>
                      <a:r>
                        <a:rPr sz="1400" b="0">
                          <a:solidFill>
                            <a:srgbClr val="262626"/>
                          </a:solidFill>
                          <a:latin typeface="Calibri"/>
                        </a:rPr>
                        <a:t>Gói Sⱼ</a:t>
                      </a:r>
                    </a:p>
                  </a:txBody>
                  <a:tcPr marL="54864" marR="54864" marT="27432" marB="27432" anchor="ctr">
                    <a:solidFill>
                      <a:srgbClr val="F4F1F1"/>
                    </a:solidFill>
                  </a:tcPr>
                </a:tc>
                <a:tc>
                  <a:txBody>
                    <a:bodyPr/>
                    <a:lstStyle/>
                    <a:p>
                      <a:pPr algn="ctr"/>
                      <a:r>
                        <a:rPr sz="1400" b="0">
                          <a:solidFill>
                            <a:srgbClr val="262626"/>
                          </a:solidFill>
                          <a:latin typeface="Calibri"/>
                        </a:rPr>
                        <a:t>Một đường bay, phủ các ô nó đi qua</a:t>
                      </a:r>
                    </a:p>
                  </a:txBody>
                  <a:tcPr marL="54864" marR="54864" marT="27432" marB="27432" anchor="ctr">
                    <a:solidFill>
                      <a:srgbClr val="F4F1F1"/>
                    </a:solidFill>
                  </a:tcPr>
                </a:tc>
                <a:extLst>
                  <a:ext uri="{0D108BD9-81ED-4DB2-BD59-A6C34878D82A}">
                    <a16:rowId xmlns:a16="http://schemas.microsoft.com/office/drawing/2014/main" val="10002"/>
                  </a:ext>
                </a:extLst>
              </a:tr>
              <a:tr h="384048">
                <a:tc>
                  <a:txBody>
                    <a:bodyPr/>
                    <a:lstStyle/>
                    <a:p>
                      <a:pPr algn="l"/>
                      <a:r>
                        <a:rPr sz="1400" b="0">
                          <a:solidFill>
                            <a:srgbClr val="262626"/>
                          </a:solidFill>
                          <a:latin typeface="Calibri"/>
                        </a:rPr>
                        <a:t>Chi phí cⱼ</a:t>
                      </a:r>
                    </a:p>
                  </a:txBody>
                  <a:tcPr marL="54864" marR="54864" marT="27432" marB="27432" anchor="ctr">
                    <a:solidFill>
                      <a:srgbClr val="FFFFFF"/>
                    </a:solidFill>
                  </a:tcPr>
                </a:tc>
                <a:tc>
                  <a:txBody>
                    <a:bodyPr/>
                    <a:lstStyle/>
                    <a:p>
                      <a:pPr algn="ctr"/>
                      <a:r>
                        <a:rPr sz="1400" b="0">
                          <a:solidFill>
                            <a:srgbClr val="262626"/>
                          </a:solidFill>
                          <a:latin typeface="Calibri"/>
                        </a:rPr>
                        <a:t>Pin tiêu tốn cho đường bay</a:t>
                      </a:r>
                    </a:p>
                  </a:txBody>
                  <a:tcPr marL="54864" marR="54864" marT="27432" marB="27432" anchor="ctr">
                    <a:solidFill>
                      <a:srgbClr val="FFFFFF"/>
                    </a:solidFill>
                  </a:tcPr>
                </a:tc>
                <a:extLst>
                  <a:ext uri="{0D108BD9-81ED-4DB2-BD59-A6C34878D82A}">
                    <a16:rowId xmlns:a16="http://schemas.microsoft.com/office/drawing/2014/main" val="10003"/>
                  </a:ext>
                </a:extLst>
              </a:tr>
              <a:tr h="384048">
                <a:tc>
                  <a:txBody>
                    <a:bodyPr/>
                    <a:lstStyle/>
                    <a:p>
                      <a:pPr algn="l"/>
                      <a:r>
                        <a:rPr sz="1400" b="0">
                          <a:solidFill>
                            <a:srgbClr val="262626"/>
                          </a:solidFill>
                          <a:latin typeface="Calibri"/>
                        </a:rPr>
                        <a:t>Ngân sách B</a:t>
                      </a:r>
                    </a:p>
                  </a:txBody>
                  <a:tcPr marL="54864" marR="54864" marT="27432" marB="27432" anchor="ctr">
                    <a:solidFill>
                      <a:srgbClr val="F4F1F1"/>
                    </a:solidFill>
                  </a:tcPr>
                </a:tc>
                <a:tc>
                  <a:txBody>
                    <a:bodyPr/>
                    <a:lstStyle/>
                    <a:p>
                      <a:pPr algn="ctr"/>
                      <a:r>
                        <a:rPr sz="1400" b="0">
                          <a:solidFill>
                            <a:srgbClr val="262626"/>
                          </a:solidFill>
                          <a:latin typeface="Calibri"/>
                        </a:rPr>
                        <a:t>Giới hạn năng lượng (Pha 2: Bᵤ cho từng UAV)</a:t>
                      </a:r>
                    </a:p>
                  </a:txBody>
                  <a:tcPr marL="54864" marR="54864" marT="27432" marB="27432" anchor="ctr">
                    <a:solidFill>
                      <a:srgbClr val="F4F1F1"/>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5669280" y="2697480"/>
            <a:ext cx="3017520" cy="1920240"/>
          </a:xfrm>
          <a:prstGeom prst="roundRect">
            <a:avLst>
              <a:gd name="adj" fmla="val 6000"/>
            </a:avLst>
          </a:prstGeom>
          <a:solidFill>
            <a:srgbClr val="F6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8" name="TextBox 7"/>
          <p:cNvSpPr txBox="1"/>
          <p:nvPr/>
        </p:nvSpPr>
        <p:spPr>
          <a:xfrm>
            <a:off x="5852160" y="2807208"/>
            <a:ext cx="2697480" cy="230832"/>
          </a:xfrm>
          <a:prstGeom prst="rect">
            <a:avLst/>
          </a:prstGeom>
          <a:noFill/>
        </p:spPr>
        <p:txBody>
          <a:bodyPr wrap="square" lIns="0" tIns="0" rIns="0" bIns="0" anchor="t">
            <a:spAutoFit/>
          </a:bodyPr>
          <a:lstStyle/>
          <a:p>
            <a:pPr algn="l">
              <a:spcAft>
                <a:spcPts val="600"/>
              </a:spcAft>
            </a:pPr>
            <a:r>
              <a:rPr sz="1500" b="1" i="0">
                <a:solidFill>
                  <a:srgbClr val="C00000"/>
                </a:solidFill>
                <a:latin typeface="Lato" panose="020F0502020204030203" pitchFamily="34" charset="0"/>
                <a:ea typeface="Lato" panose="020F0502020204030203" pitchFamily="34" charset="0"/>
                <a:cs typeface="Lato" panose="020F0502020204030203" pitchFamily="34" charset="0"/>
              </a:rPr>
              <a:t>Hệ quả 1 (kiểm tra lỗi)</a:t>
            </a:r>
          </a:p>
        </p:txBody>
      </p:sp>
      <p:sp>
        <p:nvSpPr>
          <p:cNvPr id="9" name="TextBox 8"/>
          <p:cNvSpPr txBox="1"/>
          <p:nvPr/>
        </p:nvSpPr>
        <p:spPr>
          <a:xfrm>
            <a:off x="5852160" y="3172968"/>
            <a:ext cx="2697480" cy="800219"/>
          </a:xfrm>
          <a:prstGeom prst="rect">
            <a:avLst/>
          </a:prstGeom>
          <a:noFill/>
        </p:spPr>
        <p:txBody>
          <a:bodyPr wrap="square" lIns="0" tIns="0" rIns="0" bIns="0" anchor="t">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OPT là chi phí nhỏ nhất để phủ hết. Nếu B &lt; OPT thì không thể phủ 100% ô. Kết quả nào báo phủ 100% khi B &lt; OPT là có lỗi.</a:t>
            </a:r>
          </a:p>
        </p:txBody>
      </p:sp>
      <p:sp>
        <p:nvSpPr>
          <p:cNvPr id="10" name="TextBox 9"/>
          <p:cNvSpPr txBox="1"/>
          <p:nvPr/>
        </p:nvSpPr>
        <p:spPr>
          <a:xfrm>
            <a:off x="457200" y="4892040"/>
            <a:ext cx="8229600" cy="230832"/>
          </a:xfrm>
          <a:prstGeom prst="rect">
            <a:avLst/>
          </a:prstGeom>
          <a:noFill/>
        </p:spPr>
        <p:txBody>
          <a:bodyPr wrap="square" lIns="0" tIns="0" rIns="0" bIns="0" anchor="t">
            <a:spAutoFit/>
          </a:bodyPr>
          <a:lstStyle/>
          <a:p>
            <a:pPr algn="l">
              <a:spcAft>
                <a:spcPts val="600"/>
              </a:spcAft>
            </a:pPr>
            <a:r>
              <a:rPr sz="1500" b="1" i="0">
                <a:solidFill>
                  <a:srgbClr val="C00000"/>
                </a:solidFill>
                <a:latin typeface="Lato" panose="020F0502020204030203" pitchFamily="34" charset="0"/>
                <a:ea typeface="Lato" panose="020F0502020204030203" pitchFamily="34" charset="0"/>
                <a:cs typeface="Lato" panose="020F0502020204030203" pitchFamily="34" charset="0"/>
              </a:rPr>
              <a:t>Độ khó: </a:t>
            </a:r>
            <a:r>
              <a:rPr sz="1500" b="0" i="0">
                <a:solidFill>
                  <a:srgbClr val="262626"/>
                </a:solidFill>
                <a:latin typeface="Lato" panose="020F0502020204030203" pitchFamily="34" charset="0"/>
                <a:ea typeface="Lato" panose="020F0502020204030203" pitchFamily="34" charset="0"/>
                <a:cs typeface="Lato" panose="020F0502020204030203" pitchFamily="34" charset="0"/>
              </a:rPr>
              <a:t>NP-khó (tổng quát hóa Set Cover). Cần heuristic nhanh; dùng ILP làm mốc so sánh.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Project gồm hai pha</a:t>
            </a:r>
          </a:p>
        </p:txBody>
      </p:sp>
      <p:sp>
        <p:nvSpPr>
          <p:cNvPr id="14"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Rounded Rectangle 2"/>
          <p:cNvSpPr/>
          <p:nvPr/>
        </p:nvSpPr>
        <p:spPr>
          <a:xfrm>
            <a:off x="457200" y="1005840"/>
            <a:ext cx="4023360" cy="384048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4" name="Rounded Rectangle 3"/>
          <p:cNvSpPr/>
          <p:nvPr/>
        </p:nvSpPr>
        <p:spPr>
          <a:xfrm>
            <a:off x="457200" y="1005840"/>
            <a:ext cx="4023360" cy="96012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5" name="TextBox 4"/>
          <p:cNvSpPr txBox="1"/>
          <p:nvPr/>
        </p:nvSpPr>
        <p:spPr>
          <a:xfrm>
            <a:off x="685800" y="1097280"/>
            <a:ext cx="3566160" cy="215444"/>
          </a:xfrm>
          <a:prstGeom prst="rect">
            <a:avLst/>
          </a:prstGeom>
          <a:noFill/>
        </p:spPr>
        <p:txBody>
          <a:bodyPr wrap="square" lIns="0" tIns="0" rIns="0" bIns="0" anchor="t">
            <a:spAutoFit/>
          </a:bodyPr>
          <a:lstStyle/>
          <a:p>
            <a:pPr algn="l">
              <a:spcAft>
                <a:spcPts val="6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PHA 1</a:t>
            </a:r>
          </a:p>
        </p:txBody>
      </p:sp>
      <p:sp>
        <p:nvSpPr>
          <p:cNvPr id="6" name="TextBox 5"/>
          <p:cNvSpPr txBox="1"/>
          <p:nvPr/>
        </p:nvSpPr>
        <p:spPr>
          <a:xfrm>
            <a:off x="685800" y="1417320"/>
            <a:ext cx="3566160" cy="307777"/>
          </a:xfrm>
          <a:prstGeom prst="rect">
            <a:avLst/>
          </a:prstGeom>
          <a:noFill/>
        </p:spPr>
        <p:txBody>
          <a:bodyPr wrap="square" lIns="0" tIns="0" rIns="0" bIns="0" anchor="t">
            <a:spAutoFit/>
          </a:bodyPr>
          <a:lstStyle/>
          <a:p>
            <a:pPr algn="l">
              <a:spcAft>
                <a:spcPts val="600"/>
              </a:spcAft>
            </a:pPr>
            <a:r>
              <a:rPr sz="2000" b="1" i="0">
                <a:solidFill>
                  <a:srgbClr val="FFFFFF"/>
                </a:solidFill>
                <a:latin typeface="Lato" panose="020F0502020204030203" pitchFamily="34" charset="0"/>
                <a:ea typeface="Lato" panose="020F0502020204030203" pitchFamily="34" charset="0"/>
                <a:cs typeface="Lato" panose="020F0502020204030203" pitchFamily="34" charset="0"/>
              </a:rPr>
              <a:t>OR-Library Set Covering</a:t>
            </a:r>
          </a:p>
        </p:txBody>
      </p:sp>
      <p:sp>
        <p:nvSpPr>
          <p:cNvPr id="7" name="TextBox 6"/>
          <p:cNvSpPr txBox="1"/>
          <p:nvPr/>
        </p:nvSpPr>
        <p:spPr>
          <a:xfrm>
            <a:off x="685800" y="2194560"/>
            <a:ext cx="3566160" cy="1667123"/>
          </a:xfrm>
          <a:prstGeom prst="rect">
            <a:avLst/>
          </a:prstGeom>
          <a:noFill/>
        </p:spPr>
        <p:txBody>
          <a:bodyPr wrap="square" lIns="0" tIns="0" rIns="0" bIns="0" anchor="t">
            <a:spAutoFit/>
          </a:bodyPr>
          <a:lstStyle/>
          <a:p>
            <a:pPr marL="201168" indent="-201168" algn="l">
              <a:spcAft>
                <a:spcPts val="1000"/>
              </a:spcAft>
              <a:buClr>
                <a:srgbClr val="C00000"/>
              </a:buClr>
              <a:buChar char="■"/>
            </a:pPr>
            <a:r>
              <a:rPr sz="1500" b="0" i="0">
                <a:solidFill>
                  <a:srgbClr val="262626"/>
                </a:solidFill>
                <a:latin typeface="Lato" panose="020F0502020204030203" pitchFamily="34" charset="0"/>
                <a:ea typeface="Lato" panose="020F0502020204030203" pitchFamily="34" charset="0"/>
                <a:cs typeface="Lato" panose="020F0502020204030203" pitchFamily="34" charset="0"/>
              </a:rPr>
              <a:t>45 instance chuẩn (bộ 4, 5, 6, A–D)</a:t>
            </a:r>
          </a:p>
          <a:p>
            <a:pPr marL="201168" indent="-201168" algn="l">
              <a:spcAft>
                <a:spcPts val="1000"/>
              </a:spcAft>
              <a:buClr>
                <a:srgbClr val="C00000"/>
              </a:buClr>
              <a:buChar char="■"/>
            </a:pPr>
            <a:r>
              <a:rPr sz="1500" b="0" i="0">
                <a:solidFill>
                  <a:srgbClr val="262626"/>
                </a:solidFill>
                <a:latin typeface="Lato" panose="020F0502020204030203" pitchFamily="34" charset="0"/>
                <a:ea typeface="Lato" panose="020F0502020204030203" pitchFamily="34" charset="0"/>
                <a:cs typeface="Lato" panose="020F0502020204030203" pitchFamily="34" charset="0"/>
              </a:rPr>
              <a:t>Một ngân sách chung B = mức% × OPT</a:t>
            </a:r>
          </a:p>
          <a:p>
            <a:pPr marL="201168" indent="-201168" algn="l">
              <a:spcAft>
                <a:spcPts val="1000"/>
              </a:spcAft>
              <a:buClr>
                <a:srgbClr val="C00000"/>
              </a:buClr>
              <a:buChar char="■"/>
            </a:pPr>
            <a:r>
              <a:rPr sz="1500" b="0" i="0">
                <a:solidFill>
                  <a:srgbClr val="262626"/>
                </a:solidFill>
                <a:latin typeface="Lato" panose="020F0502020204030203" pitchFamily="34" charset="0"/>
                <a:ea typeface="Lato" panose="020F0502020204030203" pitchFamily="34" charset="0"/>
                <a:cs typeface="Lato" panose="020F0502020204030203" pitchFamily="34" charset="0"/>
              </a:rPr>
              <a:t>Mức 75 / 50 / 25%</a:t>
            </a:r>
          </a:p>
          <a:p>
            <a:pPr marL="201168" indent="-201168" algn="l">
              <a:spcAft>
                <a:spcPts val="1000"/>
              </a:spcAft>
              <a:buClr>
                <a:srgbClr val="C00000"/>
              </a:buClr>
              <a:buChar char="■"/>
            </a:pPr>
            <a:r>
              <a:rPr sz="1500" b="0" i="0">
                <a:solidFill>
                  <a:srgbClr val="262626"/>
                </a:solidFill>
                <a:latin typeface="Lato" panose="020F0502020204030203" pitchFamily="34" charset="0"/>
                <a:ea typeface="Lato" panose="020F0502020204030203" pitchFamily="34" charset="0"/>
                <a:cs typeface="Lato" panose="020F0502020204030203" pitchFamily="34" charset="0"/>
              </a:rPr>
              <a:t>Mọi ô trọng số 1</a:t>
            </a:r>
          </a:p>
          <a:p>
            <a:pPr marL="201168" indent="-201168" algn="l">
              <a:spcAft>
                <a:spcPts val="1000"/>
              </a:spcAft>
              <a:buClr>
                <a:srgbClr val="C00000"/>
              </a:buClr>
              <a:buChar char="■"/>
            </a:pPr>
            <a:r>
              <a:rPr sz="1500" b="0" i="0">
                <a:solidFill>
                  <a:srgbClr val="262626"/>
                </a:solidFill>
                <a:latin typeface="Lato" panose="020F0502020204030203" pitchFamily="34" charset="0"/>
                <a:ea typeface="Lato" panose="020F0502020204030203" pitchFamily="34" charset="0"/>
                <a:cs typeface="Lato" panose="020F0502020204030203" pitchFamily="34" charset="0"/>
              </a:rPr>
              <a:t>Mục tiêu: kiểm chứng thuật toán</a:t>
            </a:r>
          </a:p>
        </p:txBody>
      </p:sp>
      <p:sp>
        <p:nvSpPr>
          <p:cNvPr id="8" name="Rounded Rectangle 7"/>
          <p:cNvSpPr/>
          <p:nvPr/>
        </p:nvSpPr>
        <p:spPr>
          <a:xfrm>
            <a:off x="4663440" y="1005840"/>
            <a:ext cx="4023360" cy="384048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9" name="Rounded Rectangle 8"/>
          <p:cNvSpPr/>
          <p:nvPr/>
        </p:nvSpPr>
        <p:spPr>
          <a:xfrm>
            <a:off x="4663440" y="1005840"/>
            <a:ext cx="4023360" cy="960120"/>
          </a:xfrm>
          <a:prstGeom prst="roundRect">
            <a:avLst>
              <a:gd name="adj" fmla="val 6000"/>
            </a:avLst>
          </a:prstGeom>
          <a:solidFill>
            <a:srgbClr val="E39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0" name="TextBox 9"/>
          <p:cNvSpPr txBox="1"/>
          <p:nvPr/>
        </p:nvSpPr>
        <p:spPr>
          <a:xfrm>
            <a:off x="4892040" y="1097280"/>
            <a:ext cx="3566160" cy="215444"/>
          </a:xfrm>
          <a:prstGeom prst="rect">
            <a:avLst/>
          </a:prstGeom>
          <a:noFill/>
        </p:spPr>
        <p:txBody>
          <a:bodyPr wrap="square" lIns="0" tIns="0" rIns="0" bIns="0" anchor="t">
            <a:spAutoFit/>
          </a:bodyPr>
          <a:lstStyle/>
          <a:p>
            <a:pPr algn="l">
              <a:spcAft>
                <a:spcPts val="600"/>
              </a:spcAft>
            </a:pPr>
            <a:r>
              <a:rPr sz="1400" b="1" i="0">
                <a:solidFill>
                  <a:srgbClr val="FFFFFF"/>
                </a:solidFill>
                <a:latin typeface="Lato" panose="020F0502020204030203" pitchFamily="34" charset="0"/>
                <a:ea typeface="Lato" panose="020F0502020204030203" pitchFamily="34" charset="0"/>
                <a:cs typeface="Lato" panose="020F0502020204030203" pitchFamily="34" charset="0"/>
              </a:rPr>
              <a:t>PHA 2</a:t>
            </a:r>
          </a:p>
        </p:txBody>
      </p:sp>
      <p:sp>
        <p:nvSpPr>
          <p:cNvPr id="11" name="TextBox 10"/>
          <p:cNvSpPr txBox="1"/>
          <p:nvPr/>
        </p:nvSpPr>
        <p:spPr>
          <a:xfrm>
            <a:off x="4892040" y="1417320"/>
            <a:ext cx="3566160" cy="307777"/>
          </a:xfrm>
          <a:prstGeom prst="rect">
            <a:avLst/>
          </a:prstGeom>
          <a:noFill/>
        </p:spPr>
        <p:txBody>
          <a:bodyPr wrap="square" lIns="0" tIns="0" rIns="0" bIns="0" anchor="t">
            <a:spAutoFit/>
          </a:bodyPr>
          <a:lstStyle/>
          <a:p>
            <a:pPr algn="l">
              <a:spcAft>
                <a:spcPts val="600"/>
              </a:spcAft>
            </a:pPr>
            <a:r>
              <a:rPr sz="2000" b="1" i="0">
                <a:solidFill>
                  <a:srgbClr val="FFFFFF"/>
                </a:solidFill>
                <a:latin typeface="Lato" panose="020F0502020204030203" pitchFamily="34" charset="0"/>
                <a:ea typeface="Lato" panose="020F0502020204030203" pitchFamily="34" charset="0"/>
                <a:cs typeface="Lato" panose="020F0502020204030203" pitchFamily="34" charset="0"/>
              </a:rPr>
              <a:t>RescueNet multi-UAV</a:t>
            </a:r>
          </a:p>
        </p:txBody>
      </p:sp>
      <p:sp>
        <p:nvSpPr>
          <p:cNvPr id="12" name="TextBox 11"/>
          <p:cNvSpPr txBox="1"/>
          <p:nvPr/>
        </p:nvSpPr>
        <p:spPr>
          <a:xfrm>
            <a:off x="4892040" y="2194560"/>
            <a:ext cx="3566160" cy="1667123"/>
          </a:xfrm>
          <a:prstGeom prst="rect">
            <a:avLst/>
          </a:prstGeom>
          <a:noFill/>
        </p:spPr>
        <p:txBody>
          <a:bodyPr wrap="square" lIns="0" tIns="0" rIns="0" bIns="0" anchor="t">
            <a:spAutoFit/>
          </a:bodyPr>
          <a:lstStyle/>
          <a:p>
            <a:pPr marL="201168" indent="-201168" algn="l">
              <a:spcAft>
                <a:spcPts val="1000"/>
              </a:spcAft>
              <a:buClr>
                <a:srgbClr val="C00000"/>
              </a:buClr>
              <a:buChar char="■"/>
            </a:pPr>
            <a:r>
              <a:rPr sz="1500" b="0" i="0">
                <a:solidFill>
                  <a:srgbClr val="262626"/>
                </a:solidFill>
                <a:latin typeface="Lato" panose="020F0502020204030203" pitchFamily="34" charset="0"/>
                <a:ea typeface="Lato" panose="020F0502020204030203" pitchFamily="34" charset="0"/>
                <a:cs typeface="Lato" panose="020F0502020204030203" pitchFamily="34" charset="0"/>
              </a:rPr>
              <a:t>Mask ảnh UAV sau bão Michael (2018)</a:t>
            </a:r>
          </a:p>
          <a:p>
            <a:pPr marL="201168" indent="-201168" algn="l">
              <a:spcAft>
                <a:spcPts val="1000"/>
              </a:spcAft>
              <a:buClr>
                <a:srgbClr val="C00000"/>
              </a:buClr>
              <a:buChar char="■"/>
            </a:pPr>
            <a:r>
              <a:rPr sz="1500" b="0" i="0">
                <a:solidFill>
                  <a:srgbClr val="262626"/>
                </a:solidFill>
                <a:latin typeface="Lato" panose="020F0502020204030203" pitchFamily="34" charset="0"/>
                <a:ea typeface="Lato" panose="020F0502020204030203" pitchFamily="34" charset="0"/>
                <a:cs typeface="Lato" panose="020F0502020204030203" pitchFamily="34" charset="0"/>
              </a:rPr>
              <a:t>4 UAV, mỗi UAV một ngân sách pin Bᵤ</a:t>
            </a:r>
          </a:p>
          <a:p>
            <a:pPr marL="201168" indent="-201168" algn="l">
              <a:spcAft>
                <a:spcPts val="1000"/>
              </a:spcAft>
              <a:buClr>
                <a:srgbClr val="C00000"/>
              </a:buClr>
              <a:buChar char="■"/>
            </a:pPr>
            <a:r>
              <a:rPr sz="1500" b="0" i="0">
                <a:solidFill>
                  <a:srgbClr val="262626"/>
                </a:solidFill>
                <a:latin typeface="Lato" panose="020F0502020204030203" pitchFamily="34" charset="0"/>
                <a:ea typeface="Lato" panose="020F0502020204030203" pitchFamily="34" charset="0"/>
                <a:cs typeface="Lato" panose="020F0502020204030203" pitchFamily="34" charset="0"/>
              </a:rPr>
              <a:t>Mức 25 / 50 / 75 / 100%</a:t>
            </a:r>
          </a:p>
          <a:p>
            <a:pPr marL="201168" indent="-201168" algn="l">
              <a:spcAft>
                <a:spcPts val="1000"/>
              </a:spcAft>
              <a:buClr>
                <a:srgbClr val="C00000"/>
              </a:buClr>
              <a:buChar char="■"/>
            </a:pPr>
            <a:r>
              <a:rPr sz="1500" b="0" i="0">
                <a:solidFill>
                  <a:srgbClr val="262626"/>
                </a:solidFill>
                <a:latin typeface="Lato" panose="020F0502020204030203" pitchFamily="34" charset="0"/>
                <a:ea typeface="Lato" panose="020F0502020204030203" pitchFamily="34" charset="0"/>
                <a:cs typeface="Lato" panose="020F0502020204030203" pitchFamily="34" charset="0"/>
              </a:rPr>
              <a:t>Ô có trọng số rủi ro theo nhãn</a:t>
            </a:r>
          </a:p>
          <a:p>
            <a:pPr marL="201168" indent="-201168" algn="l">
              <a:spcAft>
                <a:spcPts val="1000"/>
              </a:spcAft>
              <a:buClr>
                <a:srgbClr val="C00000"/>
              </a:buClr>
              <a:buChar char="■"/>
            </a:pPr>
            <a:r>
              <a:rPr sz="1500" b="0" i="0">
                <a:solidFill>
                  <a:srgbClr val="262626"/>
                </a:solidFill>
                <a:latin typeface="Lato" panose="020F0502020204030203" pitchFamily="34" charset="0"/>
                <a:ea typeface="Lato" panose="020F0502020204030203" pitchFamily="34" charset="0"/>
                <a:cs typeface="Lato" panose="020F0502020204030203" pitchFamily="34" charset="0"/>
              </a:rPr>
              <a:t>Mục tiêu: áp dụng thực tế</a:t>
            </a:r>
          </a:p>
        </p:txBody>
      </p:sp>
      <p:sp>
        <p:nvSpPr>
          <p:cNvPr id="13" name="TextBox 12"/>
          <p:cNvSpPr txBox="1"/>
          <p:nvPr/>
        </p:nvSpPr>
        <p:spPr>
          <a:xfrm>
            <a:off x="457200" y="5120640"/>
            <a:ext cx="8229600" cy="200055"/>
          </a:xfrm>
          <a:prstGeom prst="rect">
            <a:avLst/>
          </a:prstGeom>
          <a:noFill/>
        </p:spPr>
        <p:txBody>
          <a:bodyPr wrap="square" lIns="0" tIns="0" rIns="0" bIns="0" anchor="t">
            <a:spAutoFit/>
          </a:bodyPr>
          <a:lstStyle/>
          <a:p>
            <a:pPr algn="l">
              <a:spcAft>
                <a:spcPts val="600"/>
              </a:spcAft>
            </a:pPr>
            <a:r>
              <a:rPr sz="1300" b="0" i="0">
                <a:solidFill>
                  <a:srgbClr val="595959"/>
                </a:solidFill>
                <a:latin typeface="Lato" panose="020F0502020204030203" pitchFamily="34" charset="0"/>
                <a:ea typeface="Lato" panose="020F0502020204030203" pitchFamily="34" charset="0"/>
                <a:cs typeface="Lato" panose="020F0502020204030203" pitchFamily="34" charset="0"/>
              </a:rPr>
              <a:t>Cả hai pha dùng ILP (CBC) làm mốc và validator tự tính lại mọi kết quả.</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Pha 1: các bước cải tiến greedy</a:t>
            </a:r>
          </a:p>
        </p:txBody>
      </p:sp>
      <p:sp>
        <p:nvSpPr>
          <p:cNvPr id="20"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Rounded Rectangle 2"/>
          <p:cNvSpPr/>
          <p:nvPr/>
        </p:nvSpPr>
        <p:spPr>
          <a:xfrm>
            <a:off x="457200" y="1005840"/>
            <a:ext cx="8229600" cy="91440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4" name="Oval 3"/>
          <p:cNvSpPr/>
          <p:nvPr/>
        </p:nvSpPr>
        <p:spPr>
          <a:xfrm>
            <a:off x="640080" y="1252728"/>
            <a:ext cx="420624" cy="42062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1</a:t>
            </a:r>
          </a:p>
        </p:txBody>
      </p:sp>
      <p:sp>
        <p:nvSpPr>
          <p:cNvPr id="5" name="TextBox 4"/>
          <p:cNvSpPr txBox="1"/>
          <p:nvPr/>
        </p:nvSpPr>
        <p:spPr>
          <a:xfrm>
            <a:off x="1280160" y="1358217"/>
            <a:ext cx="2377440" cy="246221"/>
          </a:xfrm>
          <a:prstGeom prst="rect">
            <a:avLst/>
          </a:prstGeom>
          <a:noFill/>
        </p:spPr>
        <p:txBody>
          <a:bodyPr wrap="square" lIns="0" tIns="0" rIns="0" bIns="0" anchor="ctr">
            <a:spAutoFit/>
          </a:bodyPr>
          <a:lstStyle/>
          <a:p>
            <a:pPr algn="l">
              <a:spcAft>
                <a:spcPts val="600"/>
              </a:spcAft>
            </a:pPr>
            <a:r>
              <a:rPr sz="1600" b="1" i="0">
                <a:solidFill>
                  <a:srgbClr val="262626"/>
                </a:solidFill>
                <a:latin typeface="Lato" panose="020F0502020204030203" pitchFamily="34" charset="0"/>
                <a:ea typeface="Lato" panose="020F0502020204030203" pitchFamily="34" charset="0"/>
                <a:cs typeface="Lato" panose="020F0502020204030203" pitchFamily="34" charset="0"/>
              </a:rPr>
              <a:t>Ratio greedy (lazy)</a:t>
            </a:r>
          </a:p>
        </p:txBody>
      </p:sp>
      <p:sp>
        <p:nvSpPr>
          <p:cNvPr id="6" name="TextBox 5"/>
          <p:cNvSpPr txBox="1"/>
          <p:nvPr/>
        </p:nvSpPr>
        <p:spPr>
          <a:xfrm>
            <a:off x="3657600" y="1256740"/>
            <a:ext cx="4846320" cy="430887"/>
          </a:xfrm>
          <a:prstGeom prst="rect">
            <a:avLst/>
          </a:prstGeom>
          <a:noFill/>
        </p:spPr>
        <p:txBody>
          <a:bodyPr wrap="square" lIns="0" tIns="0" rIns="0" bIns="0" anchor="ctr">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Mỗi bước chọn gói có (trọng số ô mới / chi phí) lớn nhất, còn vừa ngân sách.</a:t>
            </a:r>
          </a:p>
        </p:txBody>
      </p:sp>
      <p:sp>
        <p:nvSpPr>
          <p:cNvPr id="7" name="Rounded Rectangle 6"/>
          <p:cNvSpPr/>
          <p:nvPr/>
        </p:nvSpPr>
        <p:spPr>
          <a:xfrm>
            <a:off x="457200" y="2103120"/>
            <a:ext cx="8229600" cy="91440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8" name="Oval 7"/>
          <p:cNvSpPr/>
          <p:nvPr/>
        </p:nvSpPr>
        <p:spPr>
          <a:xfrm>
            <a:off x="640080" y="2350008"/>
            <a:ext cx="420624" cy="42062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2</a:t>
            </a:r>
          </a:p>
        </p:txBody>
      </p:sp>
      <p:sp>
        <p:nvSpPr>
          <p:cNvPr id="9" name="TextBox 8"/>
          <p:cNvSpPr txBox="1"/>
          <p:nvPr/>
        </p:nvSpPr>
        <p:spPr>
          <a:xfrm>
            <a:off x="1280160" y="2455497"/>
            <a:ext cx="2377440" cy="246221"/>
          </a:xfrm>
          <a:prstGeom prst="rect">
            <a:avLst/>
          </a:prstGeom>
          <a:noFill/>
        </p:spPr>
        <p:txBody>
          <a:bodyPr wrap="square" lIns="0" tIns="0" rIns="0" bIns="0" anchor="ctr">
            <a:spAutoFit/>
          </a:bodyPr>
          <a:lstStyle/>
          <a:p>
            <a:pPr algn="l">
              <a:spcAft>
                <a:spcPts val="600"/>
              </a:spcAft>
            </a:pPr>
            <a:r>
              <a:rPr sz="1600" b="1" i="0">
                <a:solidFill>
                  <a:srgbClr val="262626"/>
                </a:solidFill>
                <a:latin typeface="Lato" panose="020F0502020204030203" pitchFamily="34" charset="0"/>
                <a:ea typeface="Lato" panose="020F0502020204030203" pitchFamily="34" charset="0"/>
                <a:cs typeface="Lato" panose="020F0502020204030203" pitchFamily="34" charset="0"/>
              </a:rPr>
              <a:t>+ Gói đơn tốt nhất</a:t>
            </a:r>
          </a:p>
        </p:txBody>
      </p:sp>
      <p:sp>
        <p:nvSpPr>
          <p:cNvPr id="10" name="TextBox 9"/>
          <p:cNvSpPr txBox="1"/>
          <p:nvPr/>
        </p:nvSpPr>
        <p:spPr>
          <a:xfrm>
            <a:off x="3657600" y="2354020"/>
            <a:ext cx="4846320" cy="430887"/>
          </a:xfrm>
          <a:prstGeom prst="rect">
            <a:avLst/>
          </a:prstGeom>
          <a:noFill/>
        </p:spPr>
        <p:txBody>
          <a:bodyPr wrap="square" lIns="0" tIns="0" rIns="0" bIns="0" anchor="ctr">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Lấy kết quả tốt hơn giữa greedy và một gói đơn. Cận ½(1 − 1/e) ≈ 0,32 (Khuller–Moss–Naor, 1999).</a:t>
            </a:r>
          </a:p>
        </p:txBody>
      </p:sp>
      <p:sp>
        <p:nvSpPr>
          <p:cNvPr id="11" name="Rounded Rectangle 10"/>
          <p:cNvSpPr/>
          <p:nvPr/>
        </p:nvSpPr>
        <p:spPr>
          <a:xfrm>
            <a:off x="457200" y="3200400"/>
            <a:ext cx="8229600" cy="91440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2" name="Oval 11"/>
          <p:cNvSpPr/>
          <p:nvPr/>
        </p:nvSpPr>
        <p:spPr>
          <a:xfrm>
            <a:off x="640080" y="3447288"/>
            <a:ext cx="420624" cy="42062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3</a:t>
            </a:r>
          </a:p>
        </p:txBody>
      </p:sp>
      <p:sp>
        <p:nvSpPr>
          <p:cNvPr id="13" name="TextBox 12"/>
          <p:cNvSpPr txBox="1"/>
          <p:nvPr/>
        </p:nvSpPr>
        <p:spPr>
          <a:xfrm>
            <a:off x="1280160" y="3552777"/>
            <a:ext cx="2377440" cy="246221"/>
          </a:xfrm>
          <a:prstGeom prst="rect">
            <a:avLst/>
          </a:prstGeom>
          <a:noFill/>
        </p:spPr>
        <p:txBody>
          <a:bodyPr wrap="square" lIns="0" tIns="0" rIns="0" bIns="0" anchor="ctr">
            <a:spAutoFit/>
          </a:bodyPr>
          <a:lstStyle/>
          <a:p>
            <a:pPr algn="l">
              <a:spcAft>
                <a:spcPts val="600"/>
              </a:spcAft>
            </a:pPr>
            <a:r>
              <a:rPr sz="1600" b="1" i="0">
                <a:solidFill>
                  <a:srgbClr val="262626"/>
                </a:solidFill>
                <a:latin typeface="Lato" panose="020F0502020204030203" pitchFamily="34" charset="0"/>
                <a:ea typeface="Lato" panose="020F0502020204030203" pitchFamily="34" charset="0"/>
                <a:cs typeface="Lato" panose="020F0502020204030203" pitchFamily="34" charset="0"/>
              </a:rPr>
              <a:t>+ Seed</a:t>
            </a:r>
          </a:p>
        </p:txBody>
      </p:sp>
      <p:sp>
        <p:nvSpPr>
          <p:cNvPr id="14" name="TextBox 13"/>
          <p:cNvSpPr txBox="1"/>
          <p:nvPr/>
        </p:nvSpPr>
        <p:spPr>
          <a:xfrm>
            <a:off x="3657600" y="3451300"/>
            <a:ext cx="4846320" cy="430887"/>
          </a:xfrm>
          <a:prstGeom prst="rect">
            <a:avLst/>
          </a:prstGeom>
          <a:noFill/>
        </p:spPr>
        <p:txBody>
          <a:bodyPr wrap="square" lIns="0" tIns="0" rIns="0" bIns="0" anchor="ctr">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Chạy lại greedy bắt đầu từ 20 gói tốt nhất theo trọng số và 20 gói theo tỉ lệ.</a:t>
            </a:r>
          </a:p>
        </p:txBody>
      </p:sp>
      <p:sp>
        <p:nvSpPr>
          <p:cNvPr id="15" name="Rounded Rectangle 14"/>
          <p:cNvSpPr/>
          <p:nvPr/>
        </p:nvSpPr>
        <p:spPr>
          <a:xfrm>
            <a:off x="457200" y="4297679"/>
            <a:ext cx="8229600" cy="91440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6" name="Oval 15"/>
          <p:cNvSpPr/>
          <p:nvPr/>
        </p:nvSpPr>
        <p:spPr>
          <a:xfrm>
            <a:off x="640080" y="4544567"/>
            <a:ext cx="420624" cy="42062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4</a:t>
            </a:r>
          </a:p>
        </p:txBody>
      </p:sp>
      <p:sp>
        <p:nvSpPr>
          <p:cNvPr id="17" name="TextBox 16"/>
          <p:cNvSpPr txBox="1"/>
          <p:nvPr/>
        </p:nvSpPr>
        <p:spPr>
          <a:xfrm>
            <a:off x="1280160" y="4650056"/>
            <a:ext cx="2377440" cy="246221"/>
          </a:xfrm>
          <a:prstGeom prst="rect">
            <a:avLst/>
          </a:prstGeom>
          <a:noFill/>
        </p:spPr>
        <p:txBody>
          <a:bodyPr wrap="square" lIns="0" tIns="0" rIns="0" bIns="0" anchor="ctr">
            <a:spAutoFit/>
          </a:bodyPr>
          <a:lstStyle/>
          <a:p>
            <a:pPr algn="l">
              <a:spcAft>
                <a:spcPts val="600"/>
              </a:spcAft>
            </a:pPr>
            <a:r>
              <a:rPr sz="1600" b="1" i="0">
                <a:solidFill>
                  <a:srgbClr val="262626"/>
                </a:solidFill>
                <a:latin typeface="Lato" panose="020F0502020204030203" pitchFamily="34" charset="0"/>
                <a:ea typeface="Lato" panose="020F0502020204030203" pitchFamily="34" charset="0"/>
                <a:cs typeface="Lato" panose="020F0502020204030203" pitchFamily="34" charset="0"/>
              </a:rPr>
              <a:t>+ Local search</a:t>
            </a:r>
          </a:p>
        </p:txBody>
      </p:sp>
      <p:sp>
        <p:nvSpPr>
          <p:cNvPr id="18" name="TextBox 17"/>
          <p:cNvSpPr txBox="1"/>
          <p:nvPr/>
        </p:nvSpPr>
        <p:spPr>
          <a:xfrm>
            <a:off x="3657600" y="4548579"/>
            <a:ext cx="4846320" cy="430887"/>
          </a:xfrm>
          <a:prstGeom prst="rect">
            <a:avLst/>
          </a:prstGeom>
          <a:noFill/>
        </p:spPr>
        <p:txBody>
          <a:bodyPr wrap="square" lIns="0" tIns="0" rIns="0" bIns="0" anchor="ctr">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Drop-and-refill: bỏ một gói, lấp lại bằng greedy; giữ nếu tốt hơn.</a:t>
            </a:r>
          </a:p>
        </p:txBody>
      </p:sp>
      <p:sp>
        <p:nvSpPr>
          <p:cNvPr id="19" name="TextBox 18"/>
          <p:cNvSpPr txBox="1"/>
          <p:nvPr/>
        </p:nvSpPr>
        <p:spPr>
          <a:xfrm>
            <a:off x="457200" y="5440680"/>
            <a:ext cx="8229600" cy="215444"/>
          </a:xfrm>
          <a:prstGeom prst="rect">
            <a:avLst/>
          </a:prstGeom>
          <a:noFill/>
        </p:spPr>
        <p:txBody>
          <a:bodyPr wrap="square" lIns="0" tIns="0" rIns="0" bIns="0" anchor="t">
            <a:spAutoFit/>
          </a:bodyPr>
          <a:lstStyle/>
          <a:p>
            <a:pPr algn="l">
              <a:spcAft>
                <a:spcPts val="600"/>
              </a:spcAft>
            </a:pPr>
            <a:r>
              <a:rPr sz="1400" b="1" i="0">
                <a:solidFill>
                  <a:srgbClr val="C00000"/>
                </a:solidFill>
                <a:latin typeface="Lato" panose="020F0502020204030203" pitchFamily="34" charset="0"/>
                <a:ea typeface="Lato" panose="020F0502020204030203" pitchFamily="34" charset="0"/>
                <a:cs typeface="Lato" panose="020F0502020204030203" pitchFamily="34" charset="0"/>
              </a:rPr>
              <a:t>Lưu ý: </a:t>
            </a:r>
            <a:r>
              <a:rPr sz="1400" b="0" i="0">
                <a:solidFill>
                  <a:srgbClr val="262626"/>
                </a:solidFill>
                <a:latin typeface="Lato" panose="020F0502020204030203" pitchFamily="34" charset="0"/>
                <a:ea typeface="Lato" panose="020F0502020204030203" pitchFamily="34" charset="0"/>
                <a:cs typeface="Lato" panose="020F0502020204030203" pitchFamily="34" charset="0"/>
              </a:rPr>
              <a:t>cận 1 − 1/e ≈ 0,63 chỉ đúng khi mọi gói cùng chi phí; không áp dụng ở đây.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Pha 1: 99,4–99,7% so với ILP</a:t>
            </a:r>
          </a:p>
        </p:txBody>
      </p:sp>
      <p:sp>
        <p:nvSpPr>
          <p:cNvPr id="14"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7</a:t>
            </a:fld>
            <a:endParaRPr lang="en-US" dirty="0"/>
          </a:p>
        </p:txBody>
      </p:sp>
      <p:graphicFrame>
        <p:nvGraphicFramePr>
          <p:cNvPr id="3" name="Chart 2"/>
          <p:cNvGraphicFramePr>
            <a:graphicFrameLocks noGrp="1"/>
          </p:cNvGraphicFramePr>
          <p:nvPr>
            <p:extLst>
              <p:ext uri="{D42A27DB-BD31-4B8C-83A1-F6EECF244321}">
                <p14:modId xmlns:p14="http://schemas.microsoft.com/office/powerpoint/2010/main" val="561990134"/>
              </p:ext>
            </p:extLst>
          </p:nvPr>
        </p:nvGraphicFramePr>
        <p:xfrm>
          <a:off x="365760" y="914400"/>
          <a:ext cx="56692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457200" y="5532120"/>
            <a:ext cx="5486400" cy="169277"/>
          </a:xfrm>
          <a:prstGeom prst="rect">
            <a:avLst/>
          </a:prstGeom>
          <a:noFill/>
        </p:spPr>
        <p:txBody>
          <a:bodyPr wrap="square" lIns="0" tIns="0" rIns="0" bIns="0" anchor="t">
            <a:spAutoFit/>
          </a:bodyPr>
          <a:lstStyle/>
          <a:p>
            <a:pPr algn="l">
              <a:spcAft>
                <a:spcPts val="600"/>
              </a:spcAft>
            </a:pPr>
            <a:r>
              <a:rPr sz="1100" b="0" i="0">
                <a:solidFill>
                  <a:srgbClr val="595959"/>
                </a:solidFill>
                <a:latin typeface="Lato" panose="020F0502020204030203" pitchFamily="34" charset="0"/>
                <a:ea typeface="Lato" panose="020F0502020204030203" pitchFamily="34" charset="0"/>
                <a:cs typeface="Lato" panose="020F0502020204030203" pitchFamily="34" charset="0"/>
              </a:rPr>
              <a:t>Tỉ lệ trung bình so với ILP trên 45 instance (%)</a:t>
            </a:r>
          </a:p>
        </p:txBody>
      </p:sp>
      <p:sp>
        <p:nvSpPr>
          <p:cNvPr id="5" name="Rounded Rectangle 4"/>
          <p:cNvSpPr/>
          <p:nvPr/>
        </p:nvSpPr>
        <p:spPr>
          <a:xfrm>
            <a:off x="6263640" y="1051560"/>
            <a:ext cx="2423160" cy="132588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6" name="TextBox 5"/>
          <p:cNvSpPr txBox="1"/>
          <p:nvPr/>
        </p:nvSpPr>
        <p:spPr>
          <a:xfrm>
            <a:off x="6400800" y="1161288"/>
            <a:ext cx="2194560" cy="400110"/>
          </a:xfrm>
          <a:prstGeom prst="rect">
            <a:avLst/>
          </a:prstGeom>
          <a:noFill/>
        </p:spPr>
        <p:txBody>
          <a:bodyPr wrap="square" lIns="0" tIns="0" rIns="0" bIns="0" anchor="t">
            <a:spAutoFit/>
          </a:bodyPr>
          <a:lstStyle/>
          <a:p>
            <a:pPr algn="l">
              <a:spcAft>
                <a:spcPts val="600"/>
              </a:spcAft>
            </a:pPr>
            <a:r>
              <a:rPr sz="2600" b="1" i="0">
                <a:solidFill>
                  <a:srgbClr val="C00000"/>
                </a:solidFill>
                <a:latin typeface="Lato" panose="020F0502020204030203" pitchFamily="34" charset="0"/>
                <a:ea typeface="Lato" panose="020F0502020204030203" pitchFamily="34" charset="0"/>
                <a:cs typeface="Lato" panose="020F0502020204030203" pitchFamily="34" charset="0"/>
              </a:rPr>
              <a:t>99,4–99,7%</a:t>
            </a:r>
          </a:p>
        </p:txBody>
      </p:sp>
      <p:sp>
        <p:nvSpPr>
          <p:cNvPr id="7" name="TextBox 6"/>
          <p:cNvSpPr txBox="1"/>
          <p:nvPr/>
        </p:nvSpPr>
        <p:spPr>
          <a:xfrm>
            <a:off x="6400800" y="1737360"/>
            <a:ext cx="2194560" cy="369332"/>
          </a:xfrm>
          <a:prstGeom prst="rect">
            <a:avLst/>
          </a:prstGeom>
          <a:noFill/>
        </p:spPr>
        <p:txBody>
          <a:bodyPr wrap="square" lIns="0" tIns="0" rIns="0" bIns="0" anchor="t">
            <a:spAutoFit/>
          </a:bodyPr>
          <a:lstStyle/>
          <a:p>
            <a:pPr algn="l">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trung bình so với ILP</a:t>
            </a:r>
          </a:p>
          <a:p>
            <a:pPr algn="l">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(bản đầy đủ)</a:t>
            </a:r>
          </a:p>
        </p:txBody>
      </p:sp>
      <p:sp>
        <p:nvSpPr>
          <p:cNvPr id="8" name="Rounded Rectangle 7"/>
          <p:cNvSpPr/>
          <p:nvPr/>
        </p:nvSpPr>
        <p:spPr>
          <a:xfrm>
            <a:off x="6263640" y="2560320"/>
            <a:ext cx="2423160" cy="132588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9" name="TextBox 8"/>
          <p:cNvSpPr txBox="1"/>
          <p:nvPr/>
        </p:nvSpPr>
        <p:spPr>
          <a:xfrm>
            <a:off x="6400800" y="2670048"/>
            <a:ext cx="2194560" cy="400110"/>
          </a:xfrm>
          <a:prstGeom prst="rect">
            <a:avLst/>
          </a:prstGeom>
          <a:noFill/>
        </p:spPr>
        <p:txBody>
          <a:bodyPr wrap="square" lIns="0" tIns="0" rIns="0" bIns="0" anchor="t">
            <a:spAutoFit/>
          </a:bodyPr>
          <a:lstStyle/>
          <a:p>
            <a:pPr algn="l">
              <a:spcAft>
                <a:spcPts val="600"/>
              </a:spcAft>
            </a:pPr>
            <a:r>
              <a:rPr sz="2600" b="1" i="0">
                <a:solidFill>
                  <a:srgbClr val="C00000"/>
                </a:solidFill>
                <a:latin typeface="Lato" panose="020F0502020204030203" pitchFamily="34" charset="0"/>
                <a:ea typeface="Lato" panose="020F0502020204030203" pitchFamily="34" charset="0"/>
                <a:cs typeface="Lato" panose="020F0502020204030203" pitchFamily="34" charset="0"/>
              </a:rPr>
              <a:t>≤ 0,17 s</a:t>
            </a:r>
          </a:p>
        </p:txBody>
      </p:sp>
      <p:sp>
        <p:nvSpPr>
          <p:cNvPr id="10" name="TextBox 9"/>
          <p:cNvSpPr txBox="1"/>
          <p:nvPr/>
        </p:nvSpPr>
        <p:spPr>
          <a:xfrm>
            <a:off x="6400800" y="3246120"/>
            <a:ext cx="2194560" cy="369332"/>
          </a:xfrm>
          <a:prstGeom prst="rect">
            <a:avLst/>
          </a:prstGeom>
          <a:noFill/>
        </p:spPr>
        <p:txBody>
          <a:bodyPr wrap="square" lIns="0" tIns="0" rIns="0" bIns="0" anchor="t">
            <a:spAutoFit/>
          </a:bodyPr>
          <a:lstStyle/>
          <a:p>
            <a:pPr algn="l">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mỗi lần chạy</a:t>
            </a:r>
          </a:p>
          <a:p>
            <a:pPr algn="l">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(ILP tới ~14 s)</a:t>
            </a:r>
          </a:p>
        </p:txBody>
      </p:sp>
      <p:sp>
        <p:nvSpPr>
          <p:cNvPr id="11" name="Rounded Rectangle 10"/>
          <p:cNvSpPr/>
          <p:nvPr/>
        </p:nvSpPr>
        <p:spPr>
          <a:xfrm>
            <a:off x="6263640" y="4069079"/>
            <a:ext cx="2423160" cy="132588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2" name="TextBox 11"/>
          <p:cNvSpPr txBox="1"/>
          <p:nvPr/>
        </p:nvSpPr>
        <p:spPr>
          <a:xfrm>
            <a:off x="6400800" y="4178807"/>
            <a:ext cx="2194560" cy="400110"/>
          </a:xfrm>
          <a:prstGeom prst="rect">
            <a:avLst/>
          </a:prstGeom>
          <a:noFill/>
        </p:spPr>
        <p:txBody>
          <a:bodyPr wrap="square" lIns="0" tIns="0" rIns="0" bIns="0" anchor="t">
            <a:spAutoFit/>
          </a:bodyPr>
          <a:lstStyle/>
          <a:p>
            <a:pPr algn="l">
              <a:spcAft>
                <a:spcPts val="600"/>
              </a:spcAft>
            </a:pPr>
            <a:r>
              <a:rPr sz="2600" b="1" i="0">
                <a:solidFill>
                  <a:srgbClr val="C00000"/>
                </a:solidFill>
                <a:latin typeface="Lato" panose="020F0502020204030203" pitchFamily="34" charset="0"/>
                <a:ea typeface="Lato" panose="020F0502020204030203" pitchFamily="34" charset="0"/>
                <a:cs typeface="Lato" panose="020F0502020204030203" pitchFamily="34" charset="0"/>
              </a:rPr>
              <a:t>45/45</a:t>
            </a:r>
          </a:p>
        </p:txBody>
      </p:sp>
      <p:sp>
        <p:nvSpPr>
          <p:cNvPr id="13" name="TextBox 12"/>
          <p:cNvSpPr txBox="1"/>
          <p:nvPr/>
        </p:nvSpPr>
        <p:spPr>
          <a:xfrm>
            <a:off x="6400800" y="4754879"/>
            <a:ext cx="2194560" cy="369332"/>
          </a:xfrm>
          <a:prstGeom prst="rect">
            <a:avLst/>
          </a:prstGeom>
          <a:noFill/>
        </p:spPr>
        <p:txBody>
          <a:bodyPr wrap="square" lIns="0" tIns="0" rIns="0" bIns="0" anchor="t">
            <a:spAutoFit/>
          </a:bodyPr>
          <a:lstStyle/>
          <a:p>
            <a:pPr algn="l">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OPT khớp</a:t>
            </a:r>
          </a:p>
          <a:p>
            <a:pPr algn="l">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bảng đã công bố</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Pha 2: từ ảnh đến bản đồ rủi ro</a:t>
            </a:r>
          </a:p>
        </p:txBody>
      </p:sp>
      <p:sp>
        <p:nvSpPr>
          <p:cNvPr id="2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Rounded Rectangle 2"/>
          <p:cNvSpPr/>
          <p:nvPr/>
        </p:nvSpPr>
        <p:spPr>
          <a:xfrm>
            <a:off x="457200" y="1005840"/>
            <a:ext cx="1783080" cy="118872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4" name="TextBox 3"/>
          <p:cNvSpPr txBox="1"/>
          <p:nvPr/>
        </p:nvSpPr>
        <p:spPr>
          <a:xfrm>
            <a:off x="548640" y="1097280"/>
            <a:ext cx="1600200" cy="230832"/>
          </a:xfrm>
          <a:prstGeom prst="rect">
            <a:avLst/>
          </a:prstGeom>
          <a:noFill/>
        </p:spPr>
        <p:txBody>
          <a:bodyPr wrap="square" lIns="0" tIns="0" rIns="0" bIns="0" anchor="t">
            <a:spAutoFit/>
          </a:bodyPr>
          <a:lstStyle/>
          <a:p>
            <a:pPr algn="ctr">
              <a:spcAft>
                <a:spcPts val="600"/>
              </a:spcAft>
            </a:pPr>
            <a:r>
              <a:rPr sz="1500" b="1" i="0">
                <a:solidFill>
                  <a:srgbClr val="262626"/>
                </a:solidFill>
                <a:latin typeface="Lato" panose="020F0502020204030203" pitchFamily="34" charset="0"/>
                <a:ea typeface="Lato" panose="020F0502020204030203" pitchFamily="34" charset="0"/>
                <a:cs typeface="Lato" panose="020F0502020204030203" pitchFamily="34" charset="0"/>
              </a:rPr>
              <a:t>Mask 11 lớp</a:t>
            </a:r>
          </a:p>
        </p:txBody>
      </p:sp>
      <p:sp>
        <p:nvSpPr>
          <p:cNvPr id="5" name="TextBox 4"/>
          <p:cNvSpPr txBox="1"/>
          <p:nvPr/>
        </p:nvSpPr>
        <p:spPr>
          <a:xfrm>
            <a:off x="548640" y="1481328"/>
            <a:ext cx="1600200" cy="369332"/>
          </a:xfrm>
          <a:prstGeom prst="rect">
            <a:avLst/>
          </a:prstGeom>
          <a:noFill/>
        </p:spPr>
        <p:txBody>
          <a:bodyPr wrap="square" lIns="0" tIns="0" rIns="0" bIns="0" anchor="t">
            <a:spAutoFit/>
          </a:bodyPr>
          <a:lstStyle/>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449 ảnh validation</a:t>
            </a:r>
          </a:p>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RescueNet</a:t>
            </a:r>
          </a:p>
        </p:txBody>
      </p:sp>
      <p:sp>
        <p:nvSpPr>
          <p:cNvPr id="6" name="Right Arrow 5"/>
          <p:cNvSpPr/>
          <p:nvPr/>
        </p:nvSpPr>
        <p:spPr>
          <a:xfrm>
            <a:off x="2286000" y="1463040"/>
            <a:ext cx="256032" cy="274320"/>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7" name="Rounded Rectangle 6"/>
          <p:cNvSpPr/>
          <p:nvPr/>
        </p:nvSpPr>
        <p:spPr>
          <a:xfrm>
            <a:off x="2587752" y="1005840"/>
            <a:ext cx="1783080" cy="118872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8" name="TextBox 7"/>
          <p:cNvSpPr txBox="1"/>
          <p:nvPr/>
        </p:nvSpPr>
        <p:spPr>
          <a:xfrm>
            <a:off x="2679192" y="1097280"/>
            <a:ext cx="1600200" cy="230832"/>
          </a:xfrm>
          <a:prstGeom prst="rect">
            <a:avLst/>
          </a:prstGeom>
          <a:noFill/>
        </p:spPr>
        <p:txBody>
          <a:bodyPr wrap="square" lIns="0" tIns="0" rIns="0" bIns="0" anchor="t">
            <a:spAutoFit/>
          </a:bodyPr>
          <a:lstStyle/>
          <a:p>
            <a:pPr algn="ctr">
              <a:spcAft>
                <a:spcPts val="600"/>
              </a:spcAft>
            </a:pPr>
            <a:r>
              <a:rPr sz="1500" b="1" i="0">
                <a:solidFill>
                  <a:srgbClr val="262626"/>
                </a:solidFill>
                <a:latin typeface="Lato" panose="020F0502020204030203" pitchFamily="34" charset="0"/>
                <a:ea typeface="Lato" panose="020F0502020204030203" pitchFamily="34" charset="0"/>
                <a:cs typeface="Lato" panose="020F0502020204030203" pitchFamily="34" charset="0"/>
              </a:rPr>
              <a:t>Bảng điểm</a:t>
            </a:r>
          </a:p>
        </p:txBody>
      </p:sp>
      <p:sp>
        <p:nvSpPr>
          <p:cNvPr id="9" name="TextBox 8"/>
          <p:cNvSpPr txBox="1"/>
          <p:nvPr/>
        </p:nvSpPr>
        <p:spPr>
          <a:xfrm>
            <a:off x="2679192" y="1481328"/>
            <a:ext cx="1600200" cy="184666"/>
          </a:xfrm>
          <a:prstGeom prst="rect">
            <a:avLst/>
          </a:prstGeom>
          <a:noFill/>
        </p:spPr>
        <p:txBody>
          <a:bodyPr wrap="square" lIns="0" tIns="0" rIns="0" bIns="0" anchor="t">
            <a:spAutoFit/>
          </a:bodyPr>
          <a:lstStyle/>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nhãn → 0/1/2/3</a:t>
            </a:r>
          </a:p>
        </p:txBody>
      </p:sp>
      <p:sp>
        <p:nvSpPr>
          <p:cNvPr id="10" name="Right Arrow 9"/>
          <p:cNvSpPr/>
          <p:nvPr/>
        </p:nvSpPr>
        <p:spPr>
          <a:xfrm>
            <a:off x="4416552" y="1463040"/>
            <a:ext cx="256032" cy="274320"/>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1" name="Rounded Rectangle 10"/>
          <p:cNvSpPr/>
          <p:nvPr/>
        </p:nvSpPr>
        <p:spPr>
          <a:xfrm>
            <a:off x="4718304" y="1005840"/>
            <a:ext cx="1783080" cy="118872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2" name="TextBox 11"/>
          <p:cNvSpPr txBox="1"/>
          <p:nvPr/>
        </p:nvSpPr>
        <p:spPr>
          <a:xfrm>
            <a:off x="4809744" y="1097280"/>
            <a:ext cx="1600200" cy="230832"/>
          </a:xfrm>
          <a:prstGeom prst="rect">
            <a:avLst/>
          </a:prstGeom>
          <a:noFill/>
        </p:spPr>
        <p:txBody>
          <a:bodyPr wrap="square" lIns="0" tIns="0" rIns="0" bIns="0" anchor="t">
            <a:spAutoFit/>
          </a:bodyPr>
          <a:lstStyle/>
          <a:p>
            <a:pPr algn="ctr">
              <a:spcAft>
                <a:spcPts val="600"/>
              </a:spcAft>
            </a:pPr>
            <a:r>
              <a:rPr sz="1500" b="1" i="0">
                <a:solidFill>
                  <a:srgbClr val="262626"/>
                </a:solidFill>
                <a:latin typeface="Lato" panose="020F0502020204030203" pitchFamily="34" charset="0"/>
                <a:ea typeface="Lato" panose="020F0502020204030203" pitchFamily="34" charset="0"/>
                <a:cs typeface="Lato" panose="020F0502020204030203" pitchFamily="34" charset="0"/>
              </a:rPr>
              <a:t>Lưới 20×20</a:t>
            </a:r>
          </a:p>
        </p:txBody>
      </p:sp>
      <p:sp>
        <p:nvSpPr>
          <p:cNvPr id="13" name="TextBox 12"/>
          <p:cNvSpPr txBox="1"/>
          <p:nvPr/>
        </p:nvSpPr>
        <p:spPr>
          <a:xfrm>
            <a:off x="4809744" y="1481328"/>
            <a:ext cx="1600200" cy="369332"/>
          </a:xfrm>
          <a:prstGeom prst="rect">
            <a:avLst/>
          </a:prstGeom>
          <a:noFill/>
        </p:spPr>
        <p:txBody>
          <a:bodyPr wrap="square" lIns="0" tIns="0" rIns="0" bIns="0" anchor="t">
            <a:spAutoFit/>
          </a:bodyPr>
          <a:lstStyle/>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trung bình điểm</a:t>
            </a:r>
          </a:p>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mỗi ô</a:t>
            </a:r>
          </a:p>
        </p:txBody>
      </p:sp>
      <p:sp>
        <p:nvSpPr>
          <p:cNvPr id="14" name="Right Arrow 13"/>
          <p:cNvSpPr/>
          <p:nvPr/>
        </p:nvSpPr>
        <p:spPr>
          <a:xfrm>
            <a:off x="6547104" y="1463040"/>
            <a:ext cx="256032" cy="274320"/>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5" name="Rounded Rectangle 14"/>
          <p:cNvSpPr/>
          <p:nvPr/>
        </p:nvSpPr>
        <p:spPr>
          <a:xfrm>
            <a:off x="6848856" y="1005840"/>
            <a:ext cx="1783080" cy="118872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6" name="TextBox 15"/>
          <p:cNvSpPr txBox="1"/>
          <p:nvPr/>
        </p:nvSpPr>
        <p:spPr>
          <a:xfrm>
            <a:off x="6940296" y="1097280"/>
            <a:ext cx="1600200" cy="230832"/>
          </a:xfrm>
          <a:prstGeom prst="rect">
            <a:avLst/>
          </a:prstGeom>
          <a:noFill/>
        </p:spPr>
        <p:txBody>
          <a:bodyPr wrap="square" lIns="0" tIns="0" rIns="0" bIns="0" anchor="t">
            <a:spAutoFit/>
          </a:bodyPr>
          <a:lstStyle/>
          <a:p>
            <a:pPr algn="ctr">
              <a:spcAft>
                <a:spcPts val="600"/>
              </a:spcAft>
            </a:pPr>
            <a:r>
              <a:rPr sz="1500" b="1" i="0">
                <a:solidFill>
                  <a:srgbClr val="FFFFFF"/>
                </a:solidFill>
                <a:latin typeface="Lato" panose="020F0502020204030203" pitchFamily="34" charset="0"/>
                <a:ea typeface="Lato" panose="020F0502020204030203" pitchFamily="34" charset="0"/>
                <a:cs typeface="Lato" panose="020F0502020204030203" pitchFamily="34" charset="0"/>
              </a:rPr>
              <a:t>Universe</a:t>
            </a:r>
          </a:p>
        </p:txBody>
      </p:sp>
      <p:sp>
        <p:nvSpPr>
          <p:cNvPr id="17" name="TextBox 16"/>
          <p:cNvSpPr txBox="1"/>
          <p:nvPr/>
        </p:nvSpPr>
        <p:spPr>
          <a:xfrm>
            <a:off x="6940296" y="1481328"/>
            <a:ext cx="1600200" cy="369332"/>
          </a:xfrm>
          <a:prstGeom prst="rect">
            <a:avLst/>
          </a:prstGeom>
          <a:noFill/>
        </p:spPr>
        <p:txBody>
          <a:bodyPr wrap="square" lIns="0" tIns="0" rIns="0" bIns="0" anchor="t">
            <a:spAutoFit/>
          </a:bodyPr>
          <a:lstStyle/>
          <a:p>
            <a:pPr algn="ctr">
              <a:spcAft>
                <a:spcPts val="0"/>
              </a:spcAft>
            </a:pPr>
            <a:r>
              <a:rPr sz="1200" b="0" i="0">
                <a:solidFill>
                  <a:srgbClr val="FFFFFF"/>
                </a:solidFill>
                <a:latin typeface="Lato" panose="020F0502020204030203" pitchFamily="34" charset="0"/>
                <a:ea typeface="Lato" panose="020F0502020204030203" pitchFamily="34" charset="0"/>
                <a:cs typeface="Lato" panose="020F0502020204030203" pitchFamily="34" charset="0"/>
              </a:rPr>
              <a:t>ô có điểm &gt; 0</a:t>
            </a:r>
          </a:p>
          <a:p>
            <a:pPr algn="ctr">
              <a:spcAft>
                <a:spcPts val="0"/>
              </a:spcAft>
            </a:pPr>
            <a:r>
              <a:rPr sz="1200" b="0" i="0">
                <a:solidFill>
                  <a:srgbClr val="FFFFFF"/>
                </a:solidFill>
                <a:latin typeface="Lato" panose="020F0502020204030203" pitchFamily="34" charset="0"/>
                <a:ea typeface="Lato" panose="020F0502020204030203" pitchFamily="34" charset="0"/>
                <a:cs typeface="Lato" panose="020F0502020204030203" pitchFamily="34" charset="0"/>
              </a:rPr>
              <a:t>(m ≤ 400)</a:t>
            </a:r>
          </a:p>
        </p:txBody>
      </p:sp>
      <p:graphicFrame>
        <p:nvGraphicFramePr>
          <p:cNvPr id="18" name="Table 17"/>
          <p:cNvGraphicFramePr>
            <a:graphicFrameLocks noGrp="1"/>
          </p:cNvGraphicFramePr>
          <p:nvPr/>
        </p:nvGraphicFramePr>
        <p:xfrm>
          <a:off x="457200" y="2514600"/>
          <a:ext cx="5120640" cy="2286000"/>
        </p:xfrm>
        <a:graphic>
          <a:graphicData uri="http://schemas.openxmlformats.org/drawingml/2006/table">
            <a:tbl>
              <a:tblPr firstRow="1">
                <a:tableStyleId>{5940675A-B579-460E-94D1-54222C63F5DA}</a:tableStyleId>
              </a:tblPr>
              <a:tblGrid>
                <a:gridCol w="68580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tblGrid>
              <a:tr h="457200">
                <a:tc>
                  <a:txBody>
                    <a:bodyPr/>
                    <a:lstStyle/>
                    <a:p>
                      <a:pPr algn="l"/>
                      <a:r>
                        <a:rPr sz="1300" b="1">
                          <a:solidFill>
                            <a:srgbClr val="FFFFFF"/>
                          </a:solidFill>
                          <a:latin typeface="Calibri"/>
                        </a:rPr>
                        <a:t>Điểm</a:t>
                      </a:r>
                    </a:p>
                  </a:txBody>
                  <a:tcPr marL="54864" marR="54864" marT="27432" marB="27432" anchor="ctr">
                    <a:solidFill>
                      <a:srgbClr val="C00000"/>
                    </a:solidFill>
                  </a:tcPr>
                </a:tc>
                <a:tc>
                  <a:txBody>
                    <a:bodyPr/>
                    <a:lstStyle/>
                    <a:p>
                      <a:pPr algn="ctr"/>
                      <a:r>
                        <a:rPr sz="1300" b="1">
                          <a:solidFill>
                            <a:srgbClr val="FFFFFF"/>
                          </a:solidFill>
                          <a:latin typeface="Calibri"/>
                        </a:rPr>
                        <a:t>Lớp nhãn</a:t>
                      </a:r>
                    </a:p>
                  </a:txBody>
                  <a:tcPr marL="54864" marR="54864" marT="27432" marB="27432" anchor="ctr">
                    <a:solidFill>
                      <a:srgbClr val="C00000"/>
                    </a:solidFill>
                  </a:tcPr>
                </a:tc>
                <a:extLst>
                  <a:ext uri="{0D108BD9-81ED-4DB2-BD59-A6C34878D82A}">
                    <a16:rowId xmlns:a16="http://schemas.microsoft.com/office/drawing/2014/main" val="10000"/>
                  </a:ext>
                </a:extLst>
              </a:tr>
              <a:tr h="457200">
                <a:tc>
                  <a:txBody>
                    <a:bodyPr/>
                    <a:lstStyle/>
                    <a:p>
                      <a:pPr algn="ctr"/>
                      <a:r>
                        <a:rPr sz="1300" b="0">
                          <a:solidFill>
                            <a:srgbClr val="262626"/>
                          </a:solidFill>
                          <a:latin typeface="Calibri"/>
                        </a:rPr>
                        <a:t>3</a:t>
                      </a:r>
                    </a:p>
                  </a:txBody>
                  <a:tcPr marL="54864" marR="54864" marT="27432" marB="27432" anchor="ctr">
                    <a:solidFill>
                      <a:srgbClr val="FFFFFF"/>
                    </a:solidFill>
                  </a:tcPr>
                </a:tc>
                <a:tc>
                  <a:txBody>
                    <a:bodyPr/>
                    <a:lstStyle/>
                    <a:p>
                      <a:pPr algn="ctr"/>
                      <a:r>
                        <a:rPr sz="1300" b="0">
                          <a:solidFill>
                            <a:srgbClr val="262626"/>
                          </a:solidFill>
                          <a:latin typeface="Calibri"/>
                        </a:rPr>
                        <a:t>Nhà hư hại nặng, nhà sập, đường bị chặn</a:t>
                      </a:r>
                    </a:p>
                  </a:txBody>
                  <a:tcPr marL="54864" marR="54864" marT="27432" marB="27432" anchor="ctr">
                    <a:solidFill>
                      <a:srgbClr val="FFFFFF"/>
                    </a:solidFill>
                  </a:tcPr>
                </a:tc>
                <a:extLst>
                  <a:ext uri="{0D108BD9-81ED-4DB2-BD59-A6C34878D82A}">
                    <a16:rowId xmlns:a16="http://schemas.microsoft.com/office/drawing/2014/main" val="10001"/>
                  </a:ext>
                </a:extLst>
              </a:tr>
              <a:tr h="457200">
                <a:tc>
                  <a:txBody>
                    <a:bodyPr/>
                    <a:lstStyle/>
                    <a:p>
                      <a:pPr algn="ctr"/>
                      <a:r>
                        <a:rPr sz="1300" b="0">
                          <a:solidFill>
                            <a:srgbClr val="262626"/>
                          </a:solidFill>
                          <a:latin typeface="Calibri"/>
                        </a:rPr>
                        <a:t>2</a:t>
                      </a:r>
                    </a:p>
                  </a:txBody>
                  <a:tcPr marL="54864" marR="54864" marT="27432" marB="27432" anchor="ctr">
                    <a:solidFill>
                      <a:srgbClr val="F4F1F1"/>
                    </a:solidFill>
                  </a:tcPr>
                </a:tc>
                <a:tc>
                  <a:txBody>
                    <a:bodyPr/>
                    <a:lstStyle/>
                    <a:p>
                      <a:pPr algn="ctr"/>
                      <a:r>
                        <a:rPr sz="1300" b="0">
                          <a:solidFill>
                            <a:srgbClr val="262626"/>
                          </a:solidFill>
                          <a:latin typeface="Calibri"/>
                        </a:rPr>
                        <a:t>Nhà hư hại nhẹ</a:t>
                      </a:r>
                    </a:p>
                  </a:txBody>
                  <a:tcPr marL="54864" marR="54864" marT="27432" marB="27432" anchor="ctr">
                    <a:solidFill>
                      <a:srgbClr val="F4F1F1"/>
                    </a:solidFill>
                  </a:tcPr>
                </a:tc>
                <a:extLst>
                  <a:ext uri="{0D108BD9-81ED-4DB2-BD59-A6C34878D82A}">
                    <a16:rowId xmlns:a16="http://schemas.microsoft.com/office/drawing/2014/main" val="10002"/>
                  </a:ext>
                </a:extLst>
              </a:tr>
              <a:tr h="457200">
                <a:tc>
                  <a:txBody>
                    <a:bodyPr/>
                    <a:lstStyle/>
                    <a:p>
                      <a:pPr algn="ctr"/>
                      <a:r>
                        <a:rPr sz="1300" b="0">
                          <a:solidFill>
                            <a:srgbClr val="262626"/>
                          </a:solidFill>
                          <a:latin typeface="Calibri"/>
                        </a:rPr>
                        <a:t>1</a:t>
                      </a:r>
                    </a:p>
                  </a:txBody>
                  <a:tcPr marL="54864" marR="54864" marT="27432" marB="27432" anchor="ctr">
                    <a:solidFill>
                      <a:srgbClr val="FFFFFF"/>
                    </a:solidFill>
                  </a:tcPr>
                </a:tc>
                <a:tc>
                  <a:txBody>
                    <a:bodyPr/>
                    <a:lstStyle/>
                    <a:p>
                      <a:pPr algn="ctr"/>
                      <a:r>
                        <a:rPr sz="1300" b="0">
                          <a:solidFill>
                            <a:srgbClr val="262626"/>
                          </a:solidFill>
                          <a:latin typeface="Calibri"/>
                        </a:rPr>
                        <a:t>Nước, nhà không hư hại, xe, đường thông, bể bơi</a:t>
                      </a:r>
                    </a:p>
                  </a:txBody>
                  <a:tcPr marL="54864" marR="54864" marT="27432" marB="27432" anchor="ctr">
                    <a:solidFill>
                      <a:srgbClr val="FFFFFF"/>
                    </a:solidFill>
                  </a:tcPr>
                </a:tc>
                <a:extLst>
                  <a:ext uri="{0D108BD9-81ED-4DB2-BD59-A6C34878D82A}">
                    <a16:rowId xmlns:a16="http://schemas.microsoft.com/office/drawing/2014/main" val="10003"/>
                  </a:ext>
                </a:extLst>
              </a:tr>
              <a:tr h="457200">
                <a:tc>
                  <a:txBody>
                    <a:bodyPr/>
                    <a:lstStyle/>
                    <a:p>
                      <a:pPr algn="ctr"/>
                      <a:r>
                        <a:rPr sz="1300" b="0">
                          <a:solidFill>
                            <a:srgbClr val="262626"/>
                          </a:solidFill>
                          <a:latin typeface="Calibri"/>
                        </a:rPr>
                        <a:t>0</a:t>
                      </a:r>
                    </a:p>
                  </a:txBody>
                  <a:tcPr marL="54864" marR="54864" marT="27432" marB="27432" anchor="ctr">
                    <a:solidFill>
                      <a:srgbClr val="F4F1F1"/>
                    </a:solidFill>
                  </a:tcPr>
                </a:tc>
                <a:tc>
                  <a:txBody>
                    <a:bodyPr/>
                    <a:lstStyle/>
                    <a:p>
                      <a:pPr algn="ctr"/>
                      <a:r>
                        <a:rPr sz="1300" b="0">
                          <a:solidFill>
                            <a:srgbClr val="262626"/>
                          </a:solidFill>
                          <a:latin typeface="Calibri"/>
                        </a:rPr>
                        <a:t>Nền, cây (loại khỏi universe)</a:t>
                      </a:r>
                    </a:p>
                  </a:txBody>
                  <a:tcPr marL="54864" marR="54864" marT="27432" marB="27432" anchor="ctr">
                    <a:solidFill>
                      <a:srgbClr val="F4F1F1"/>
                    </a:solidFill>
                  </a:tcPr>
                </a:tc>
                <a:extLst>
                  <a:ext uri="{0D108BD9-81ED-4DB2-BD59-A6C34878D82A}">
                    <a16:rowId xmlns:a16="http://schemas.microsoft.com/office/drawing/2014/main" val="10004"/>
                  </a:ext>
                </a:extLst>
              </a:tr>
            </a:tbl>
          </a:graphicData>
        </a:graphic>
      </p:graphicFrame>
      <p:sp>
        <p:nvSpPr>
          <p:cNvPr id="19" name="TextBox 18"/>
          <p:cNvSpPr txBox="1"/>
          <p:nvPr/>
        </p:nvSpPr>
        <p:spPr>
          <a:xfrm>
            <a:off x="457200" y="4937760"/>
            <a:ext cx="5120640" cy="369332"/>
          </a:xfrm>
          <a:prstGeom prst="rect">
            <a:avLst/>
          </a:prstGeom>
          <a:noFill/>
        </p:spPr>
        <p:txBody>
          <a:bodyPr wrap="square" lIns="0" tIns="0" rIns="0" bIns="0" anchor="t">
            <a:spAutoFit/>
          </a:bodyPr>
          <a:lstStyle/>
          <a:p>
            <a:pPr algn="l">
              <a:spcAft>
                <a:spcPts val="60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Thang thứ tự theo mức hư hại (FEMA). Tỉ lệ 3:2:1 là lựa chọn của nhóm; độ nhạy được kiểm tra ở phần kết quả.</a:t>
            </a:r>
          </a:p>
        </p:txBody>
      </p:sp>
      <p:pic>
        <p:nvPicPr>
          <p:cNvPr id="20" name="Picture 19" descr="risk_map.png"/>
          <p:cNvPicPr>
            <a:picLocks noChangeAspect="1"/>
          </p:cNvPicPr>
          <p:nvPr/>
        </p:nvPicPr>
        <p:blipFill>
          <a:blip r:embed="rId3"/>
          <a:stretch>
            <a:fillRect/>
          </a:stretch>
        </p:blipFill>
        <p:spPr>
          <a:xfrm>
            <a:off x="5852160" y="2514600"/>
            <a:ext cx="2834640" cy="2834640"/>
          </a:xfrm>
          <a:prstGeom prst="rect">
            <a:avLst/>
          </a:prstGeom>
        </p:spPr>
      </p:pic>
      <p:sp>
        <p:nvSpPr>
          <p:cNvPr id="21" name="TextBox 20"/>
          <p:cNvSpPr txBox="1"/>
          <p:nvPr/>
        </p:nvSpPr>
        <p:spPr>
          <a:xfrm>
            <a:off x="5852160" y="5440680"/>
            <a:ext cx="2834640" cy="169277"/>
          </a:xfrm>
          <a:prstGeom prst="rect">
            <a:avLst/>
          </a:prstGeom>
          <a:noFill/>
        </p:spPr>
        <p:txBody>
          <a:bodyPr wrap="square" lIns="0" tIns="0" rIns="0" bIns="0" anchor="t">
            <a:spAutoFit/>
          </a:bodyPr>
          <a:lstStyle/>
          <a:p>
            <a:pPr algn="ctr">
              <a:spcAft>
                <a:spcPts val="600"/>
              </a:spcAft>
            </a:pPr>
            <a:r>
              <a:rPr sz="1100" b="0" i="0">
                <a:solidFill>
                  <a:srgbClr val="595959"/>
                </a:solidFill>
                <a:latin typeface="Lato" panose="020F0502020204030203" pitchFamily="34" charset="0"/>
                <a:ea typeface="Lato" panose="020F0502020204030203" pitchFamily="34" charset="0"/>
                <a:cs typeface="Lato" panose="020F0502020204030203" pitchFamily="34" charset="0"/>
              </a:rPr>
              <a:t>Ví dụ: ảnh 11702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Pha 2: mô hình multi-UAV với pin riêng</a:t>
            </a:r>
          </a:p>
        </p:txBody>
      </p:sp>
      <p:sp>
        <p:nvSpPr>
          <p:cNvPr id="20"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Rounded Rectangle 2"/>
          <p:cNvSpPr/>
          <p:nvPr/>
        </p:nvSpPr>
        <p:spPr>
          <a:xfrm>
            <a:off x="457200" y="1005840"/>
            <a:ext cx="1920240" cy="160020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4" name="TextBox 3"/>
          <p:cNvSpPr txBox="1"/>
          <p:nvPr/>
        </p:nvSpPr>
        <p:spPr>
          <a:xfrm>
            <a:off x="566928" y="1115568"/>
            <a:ext cx="1700784" cy="400110"/>
          </a:xfrm>
          <a:prstGeom prst="rect">
            <a:avLst/>
          </a:prstGeom>
          <a:noFill/>
        </p:spPr>
        <p:txBody>
          <a:bodyPr wrap="square" lIns="0" tIns="0" rIns="0" bIns="0" anchor="t">
            <a:spAutoFit/>
          </a:bodyPr>
          <a:lstStyle/>
          <a:p>
            <a:pPr algn="ctr">
              <a:spcAft>
                <a:spcPts val="600"/>
              </a:spcAft>
            </a:pPr>
            <a:r>
              <a:rPr sz="2600" b="1" i="0">
                <a:solidFill>
                  <a:srgbClr val="C00000"/>
                </a:solidFill>
                <a:latin typeface="Lato" panose="020F0502020204030203" pitchFamily="34" charset="0"/>
                <a:ea typeface="Lato" panose="020F0502020204030203" pitchFamily="34" charset="0"/>
                <a:cs typeface="Lato" panose="020F0502020204030203" pitchFamily="34" charset="0"/>
              </a:rPr>
              <a:t>4</a:t>
            </a:r>
          </a:p>
        </p:txBody>
      </p:sp>
      <p:sp>
        <p:nvSpPr>
          <p:cNvPr id="5" name="TextBox 4"/>
          <p:cNvSpPr txBox="1"/>
          <p:nvPr/>
        </p:nvSpPr>
        <p:spPr>
          <a:xfrm>
            <a:off x="566928" y="1755648"/>
            <a:ext cx="1700784" cy="369332"/>
          </a:xfrm>
          <a:prstGeom prst="rect">
            <a:avLst/>
          </a:prstGeom>
          <a:noFill/>
        </p:spPr>
        <p:txBody>
          <a:bodyPr wrap="square" lIns="0" tIns="0" rIns="0" bIns="0" anchor="t">
            <a:spAutoFit/>
          </a:bodyPr>
          <a:lstStyle/>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UAV, xuất phát ở 4 góc lưới</a:t>
            </a:r>
          </a:p>
        </p:txBody>
      </p:sp>
      <p:sp>
        <p:nvSpPr>
          <p:cNvPr id="6" name="Rounded Rectangle 5"/>
          <p:cNvSpPr/>
          <p:nvPr/>
        </p:nvSpPr>
        <p:spPr>
          <a:xfrm>
            <a:off x="2560320" y="1005840"/>
            <a:ext cx="1920240" cy="160020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7" name="TextBox 6"/>
          <p:cNvSpPr txBox="1"/>
          <p:nvPr/>
        </p:nvSpPr>
        <p:spPr>
          <a:xfrm>
            <a:off x="2670048" y="1115568"/>
            <a:ext cx="1700784" cy="400110"/>
          </a:xfrm>
          <a:prstGeom prst="rect">
            <a:avLst/>
          </a:prstGeom>
          <a:noFill/>
        </p:spPr>
        <p:txBody>
          <a:bodyPr wrap="square" lIns="0" tIns="0" rIns="0" bIns="0" anchor="t">
            <a:spAutoFit/>
          </a:bodyPr>
          <a:lstStyle/>
          <a:p>
            <a:pPr algn="ctr">
              <a:spcAft>
                <a:spcPts val="600"/>
              </a:spcAft>
            </a:pPr>
            <a:r>
              <a:rPr sz="2600" b="1" i="0">
                <a:solidFill>
                  <a:srgbClr val="C00000"/>
                </a:solidFill>
                <a:latin typeface="Lato" panose="020F0502020204030203" pitchFamily="34" charset="0"/>
                <a:ea typeface="Lato" panose="020F0502020204030203" pitchFamily="34" charset="0"/>
                <a:cs typeface="Lato" panose="020F0502020204030203" pitchFamily="34" charset="0"/>
              </a:rPr>
              <a:t>300</a:t>
            </a:r>
          </a:p>
        </p:txBody>
      </p:sp>
      <p:sp>
        <p:nvSpPr>
          <p:cNvPr id="8" name="TextBox 7"/>
          <p:cNvSpPr txBox="1"/>
          <p:nvPr/>
        </p:nvSpPr>
        <p:spPr>
          <a:xfrm>
            <a:off x="2670048" y="1755648"/>
            <a:ext cx="1700784" cy="369332"/>
          </a:xfrm>
          <a:prstGeom prst="rect">
            <a:avLst/>
          </a:prstGeom>
          <a:noFill/>
        </p:spPr>
        <p:txBody>
          <a:bodyPr wrap="square" lIns="0" tIns="0" rIns="0" bIns="0" anchor="t">
            <a:spAutoFit/>
          </a:bodyPr>
          <a:lstStyle/>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route sinh cho mỗi UAV,</a:t>
            </a:r>
          </a:p>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dài tối đa 40 ô</a:t>
            </a:r>
          </a:p>
        </p:txBody>
      </p:sp>
      <p:sp>
        <p:nvSpPr>
          <p:cNvPr id="9" name="Rounded Rectangle 8"/>
          <p:cNvSpPr/>
          <p:nvPr/>
        </p:nvSpPr>
        <p:spPr>
          <a:xfrm>
            <a:off x="4663440" y="1005840"/>
            <a:ext cx="1920240" cy="160020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0" name="TextBox 9"/>
          <p:cNvSpPr txBox="1"/>
          <p:nvPr/>
        </p:nvSpPr>
        <p:spPr>
          <a:xfrm>
            <a:off x="4773168" y="1115568"/>
            <a:ext cx="1700784" cy="400110"/>
          </a:xfrm>
          <a:prstGeom prst="rect">
            <a:avLst/>
          </a:prstGeom>
          <a:noFill/>
        </p:spPr>
        <p:txBody>
          <a:bodyPr wrap="square" lIns="0" tIns="0" rIns="0" bIns="0" anchor="t">
            <a:spAutoFit/>
          </a:bodyPr>
          <a:lstStyle/>
          <a:p>
            <a:pPr algn="ctr">
              <a:spcAft>
                <a:spcPts val="600"/>
              </a:spcAft>
            </a:pPr>
            <a:r>
              <a:rPr sz="2600" b="1" i="0">
                <a:solidFill>
                  <a:srgbClr val="C00000"/>
                </a:solidFill>
                <a:latin typeface="Lato" panose="020F0502020204030203" pitchFamily="34" charset="0"/>
                <a:ea typeface="Lato" panose="020F0502020204030203" pitchFamily="34" charset="0"/>
                <a:cs typeface="Lato" panose="020F0502020204030203" pitchFamily="34" charset="0"/>
              </a:rPr>
              <a:t>2 + số ô</a:t>
            </a:r>
          </a:p>
        </p:txBody>
      </p:sp>
      <p:sp>
        <p:nvSpPr>
          <p:cNvPr id="11" name="TextBox 10"/>
          <p:cNvSpPr txBox="1"/>
          <p:nvPr/>
        </p:nvSpPr>
        <p:spPr>
          <a:xfrm>
            <a:off x="4773168" y="1755648"/>
            <a:ext cx="1700784" cy="369332"/>
          </a:xfrm>
          <a:prstGeom prst="rect">
            <a:avLst/>
          </a:prstGeom>
          <a:noFill/>
        </p:spPr>
        <p:txBody>
          <a:bodyPr wrap="square" lIns="0" tIns="0" rIns="0" bIns="0" anchor="t">
            <a:spAutoFit/>
          </a:bodyPr>
          <a:lstStyle/>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chi phí một route</a:t>
            </a:r>
          </a:p>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(cất cánh + bay)</a:t>
            </a:r>
          </a:p>
        </p:txBody>
      </p:sp>
      <p:sp>
        <p:nvSpPr>
          <p:cNvPr id="12" name="Rounded Rectangle 11"/>
          <p:cNvSpPr/>
          <p:nvPr/>
        </p:nvSpPr>
        <p:spPr>
          <a:xfrm>
            <a:off x="6766559" y="1005840"/>
            <a:ext cx="1920240" cy="160020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3" name="TextBox 12"/>
          <p:cNvSpPr txBox="1"/>
          <p:nvPr/>
        </p:nvSpPr>
        <p:spPr>
          <a:xfrm>
            <a:off x="6876288" y="1115568"/>
            <a:ext cx="1700784" cy="400110"/>
          </a:xfrm>
          <a:prstGeom prst="rect">
            <a:avLst/>
          </a:prstGeom>
          <a:noFill/>
        </p:spPr>
        <p:txBody>
          <a:bodyPr wrap="square" lIns="0" tIns="0" rIns="0" bIns="0" anchor="t">
            <a:spAutoFit/>
          </a:bodyPr>
          <a:lstStyle/>
          <a:p>
            <a:pPr algn="ctr">
              <a:spcAft>
                <a:spcPts val="600"/>
              </a:spcAft>
            </a:pPr>
            <a:r>
              <a:rPr sz="2600" b="1" i="0">
                <a:solidFill>
                  <a:srgbClr val="C00000"/>
                </a:solidFill>
                <a:latin typeface="Lato" panose="020F0502020204030203" pitchFamily="34" charset="0"/>
                <a:ea typeface="Lato" panose="020F0502020204030203" pitchFamily="34" charset="0"/>
                <a:cs typeface="Lato" panose="020F0502020204030203" pitchFamily="34" charset="0"/>
              </a:rPr>
              <a:t>±20%</a:t>
            </a:r>
          </a:p>
        </p:txBody>
      </p:sp>
      <p:sp>
        <p:nvSpPr>
          <p:cNvPr id="14" name="TextBox 13"/>
          <p:cNvSpPr txBox="1"/>
          <p:nvPr/>
        </p:nvSpPr>
        <p:spPr>
          <a:xfrm>
            <a:off x="6876288" y="1755648"/>
            <a:ext cx="1700784" cy="369332"/>
          </a:xfrm>
          <a:prstGeom prst="rect">
            <a:avLst/>
          </a:prstGeom>
          <a:noFill/>
        </p:spPr>
        <p:txBody>
          <a:bodyPr wrap="square" lIns="0" tIns="0" rIns="0" bIns="0" anchor="t">
            <a:spAutoFit/>
          </a:bodyPr>
          <a:lstStyle/>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chênh lệch tỉ phần pin</a:t>
            </a:r>
          </a:p>
          <a:p>
            <a:pPr algn="ctr">
              <a:spcAft>
                <a:spcPts val="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giữa các UAV</a:t>
            </a:r>
          </a:p>
        </p:txBody>
      </p:sp>
      <p:sp>
        <p:nvSpPr>
          <p:cNvPr id="15" name="Rounded Rectangle 14"/>
          <p:cNvSpPr/>
          <p:nvPr/>
        </p:nvSpPr>
        <p:spPr>
          <a:xfrm>
            <a:off x="457200" y="2880360"/>
            <a:ext cx="8229600" cy="1325880"/>
          </a:xfrm>
          <a:prstGeom prst="roundRect">
            <a:avLst>
              <a:gd name="adj" fmla="val 6000"/>
            </a:avLst>
          </a:prstGeom>
          <a:solidFill>
            <a:srgbClr val="F6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6" name="TextBox 15"/>
          <p:cNvSpPr txBox="1"/>
          <p:nvPr/>
        </p:nvSpPr>
        <p:spPr>
          <a:xfrm>
            <a:off x="685800" y="2990088"/>
            <a:ext cx="7772400" cy="230832"/>
          </a:xfrm>
          <a:prstGeom prst="rect">
            <a:avLst/>
          </a:prstGeom>
          <a:noFill/>
        </p:spPr>
        <p:txBody>
          <a:bodyPr wrap="square" lIns="0" tIns="0" rIns="0" bIns="0" anchor="t">
            <a:spAutoFit/>
          </a:bodyPr>
          <a:lstStyle/>
          <a:p>
            <a:pPr algn="l">
              <a:spcAft>
                <a:spcPts val="600"/>
              </a:spcAft>
            </a:pPr>
            <a:r>
              <a:rPr sz="1500" b="1" i="0">
                <a:solidFill>
                  <a:srgbClr val="C00000"/>
                </a:solidFill>
                <a:latin typeface="Lato" panose="020F0502020204030203" pitchFamily="34" charset="0"/>
                <a:ea typeface="Lato" panose="020F0502020204030203" pitchFamily="34" charset="0"/>
                <a:cs typeface="Lato" panose="020F0502020204030203" pitchFamily="34" charset="0"/>
              </a:rPr>
              <a:t>Ngân sách pin của UAV u</a:t>
            </a:r>
          </a:p>
        </p:txBody>
      </p:sp>
      <p:sp>
        <p:nvSpPr>
          <p:cNvPr id="17" name="TextBox 16"/>
          <p:cNvSpPr txBox="1"/>
          <p:nvPr/>
        </p:nvSpPr>
        <p:spPr>
          <a:xfrm>
            <a:off x="685800" y="3337560"/>
            <a:ext cx="7772400" cy="502702"/>
          </a:xfrm>
          <a:prstGeom prst="rect">
            <a:avLst/>
          </a:prstGeom>
          <a:noFill/>
        </p:spPr>
        <p:txBody>
          <a:bodyPr wrap="square" lIns="0" tIns="0" rIns="0" bIns="0" anchor="t">
            <a:spAutoFit/>
          </a:bodyPr>
          <a:lstStyle/>
          <a:p>
            <a:pPr algn="l">
              <a:spcAft>
                <a:spcPts val="200"/>
              </a:spcAft>
            </a:pPr>
            <a:r>
              <a:rPr sz="1800" b="1" i="0">
                <a:solidFill>
                  <a:srgbClr val="262626"/>
                </a:solidFill>
                <a:latin typeface="Lato" panose="020F0502020204030203" pitchFamily="34" charset="0"/>
                <a:ea typeface="Lato" panose="020F0502020204030203" pitchFamily="34" charset="0"/>
                <a:cs typeface="Lato" panose="020F0502020204030203" pitchFamily="34" charset="0"/>
              </a:rPr>
              <a:t>Bᵤ = ⌊ mức% × R × shareᵤ ⌋</a:t>
            </a:r>
          </a:p>
          <a:p>
            <a:pPr algn="l">
              <a:spcAft>
                <a:spcPts val="200"/>
              </a:spcAft>
            </a:pPr>
            <a:r>
              <a:rPr sz="1300" b="0" i="0">
                <a:solidFill>
                  <a:srgbClr val="595959"/>
                </a:solidFill>
                <a:latin typeface="Lato" panose="020F0502020204030203" pitchFamily="34" charset="0"/>
                <a:ea typeface="Lato" panose="020F0502020204030203" pitchFamily="34" charset="0"/>
                <a:cs typeface="Lato" panose="020F0502020204030203" pitchFamily="34" charset="0"/>
              </a:rPr>
              <a:t>R: chi phí nhỏ nhất để phủ hết (ILP); mức 25 / 50 / 75 / 100%</a:t>
            </a:r>
          </a:p>
        </p:txBody>
      </p:sp>
      <p:sp>
        <p:nvSpPr>
          <p:cNvPr id="18" name="TextBox 17"/>
          <p:cNvSpPr txBox="1"/>
          <p:nvPr/>
        </p:nvSpPr>
        <p:spPr>
          <a:xfrm>
            <a:off x="457200" y="4434840"/>
            <a:ext cx="8229600" cy="246221"/>
          </a:xfrm>
          <a:prstGeom prst="rect">
            <a:avLst/>
          </a:prstGeom>
          <a:noFill/>
        </p:spPr>
        <p:txBody>
          <a:bodyPr wrap="square" lIns="0" tIns="0" rIns="0" bIns="0" anchor="t">
            <a:spAutoFit/>
          </a:bodyPr>
          <a:lstStyle/>
          <a:p>
            <a:pPr algn="l">
              <a:spcAft>
                <a:spcPts val="600"/>
              </a:spcAft>
            </a:pPr>
            <a:r>
              <a:rPr sz="1600" b="1" i="0">
                <a:solidFill>
                  <a:srgbClr val="262626"/>
                </a:solidFill>
                <a:latin typeface="Lato" panose="020F0502020204030203" pitchFamily="34" charset="0"/>
                <a:ea typeface="Lato" panose="020F0502020204030203" pitchFamily="34" charset="0"/>
                <a:cs typeface="Lato" panose="020F0502020204030203" pitchFamily="34" charset="0"/>
              </a:rPr>
              <a:t>Ràng buộc mới so với Pha 1</a:t>
            </a:r>
          </a:p>
        </p:txBody>
      </p:sp>
      <p:sp>
        <p:nvSpPr>
          <p:cNvPr id="19" name="TextBox 18"/>
          <p:cNvSpPr txBox="1"/>
          <p:nvPr/>
        </p:nvSpPr>
        <p:spPr>
          <a:xfrm>
            <a:off x="457200" y="4846320"/>
            <a:ext cx="8229600" cy="748923"/>
          </a:xfrm>
          <a:prstGeom prst="rect">
            <a:avLst/>
          </a:prstGeom>
          <a:noFill/>
        </p:spPr>
        <p:txBody>
          <a:bodyPr wrap="square" lIns="0" tIns="0" rIns="0" bIns="0" anchor="t">
            <a:spAutoFit/>
          </a:bodyPr>
          <a:lstStyle/>
          <a:p>
            <a:pPr marL="201168" indent="-201168" algn="l">
              <a:spcAft>
                <a:spcPts val="800"/>
              </a:spcAft>
              <a:buClr>
                <a:srgbClr val="C00000"/>
              </a:buClr>
              <a:buChar char="■"/>
            </a:pPr>
            <a:r>
              <a:rPr sz="1400" b="0" i="0">
                <a:solidFill>
                  <a:srgbClr val="262626"/>
                </a:solidFill>
                <a:latin typeface="Lato" panose="020F0502020204030203" pitchFamily="34" charset="0"/>
                <a:ea typeface="Lato" panose="020F0502020204030203" pitchFamily="34" charset="0"/>
                <a:cs typeface="Lato" panose="020F0502020204030203" pitchFamily="34" charset="0"/>
              </a:rPr>
              <a:t>Tổng chi phí các route của UAV u không vượt Bᵤ (K ràng buộc knapsack thay vì 1).</a:t>
            </a:r>
          </a:p>
          <a:p>
            <a:pPr marL="201168" indent="-201168" algn="l">
              <a:spcAft>
                <a:spcPts val="800"/>
              </a:spcAft>
              <a:buClr>
                <a:srgbClr val="C00000"/>
              </a:buClr>
              <a:buChar char="■"/>
            </a:pPr>
            <a:r>
              <a:rPr sz="1400" b="0" i="0">
                <a:solidFill>
                  <a:srgbClr val="262626"/>
                </a:solidFill>
                <a:latin typeface="Lato" panose="020F0502020204030203" pitchFamily="34" charset="0"/>
                <a:ea typeface="Lato" panose="020F0502020204030203" pitchFamily="34" charset="0"/>
                <a:cs typeface="Lato" panose="020F0502020204030203" pitchFamily="34" charset="0"/>
              </a:rPr>
              <a:t>Chưa kiểm chứng cận xấp xỉ nào cho trường hợp nhiều ngân sách; không khẳng định bảo đảm lý thuyết.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Thuật toán đề xuất so với baseline naive</a:t>
            </a:r>
          </a:p>
        </p:txBody>
      </p:sp>
      <p:sp>
        <p:nvSpPr>
          <p:cNvPr id="26"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Rounded Rectangle 2"/>
          <p:cNvSpPr/>
          <p:nvPr/>
        </p:nvSpPr>
        <p:spPr>
          <a:xfrm>
            <a:off x="457200" y="1005840"/>
            <a:ext cx="4023360" cy="416052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4" name="Rounded Rectangle 3"/>
          <p:cNvSpPr/>
          <p:nvPr/>
        </p:nvSpPr>
        <p:spPr>
          <a:xfrm>
            <a:off x="457200" y="1005840"/>
            <a:ext cx="4023360" cy="64008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5" name="TextBox 4"/>
          <p:cNvSpPr txBox="1"/>
          <p:nvPr/>
        </p:nvSpPr>
        <p:spPr>
          <a:xfrm>
            <a:off x="685800" y="1171991"/>
            <a:ext cx="3566160" cy="307777"/>
          </a:xfrm>
          <a:prstGeom prst="rect">
            <a:avLst/>
          </a:prstGeom>
          <a:noFill/>
        </p:spPr>
        <p:txBody>
          <a:bodyPr wrap="square" lIns="0" tIns="0" rIns="0" bIns="0" anchor="ctr">
            <a:spAutoFit/>
          </a:bodyPr>
          <a:lstStyle/>
          <a:p>
            <a:pPr algn="l">
              <a:spcAft>
                <a:spcPts val="600"/>
              </a:spcAft>
            </a:pPr>
            <a:r>
              <a:rPr sz="2000" b="1" i="0">
                <a:solidFill>
                  <a:srgbClr val="FFFFFF"/>
                </a:solidFill>
                <a:latin typeface="Lato" panose="020F0502020204030203" pitchFamily="34" charset="0"/>
                <a:ea typeface="Lato" panose="020F0502020204030203" pitchFamily="34" charset="0"/>
                <a:cs typeface="Lato" panose="020F0502020204030203" pitchFamily="34" charset="0"/>
              </a:rPr>
              <a:t>proposed</a:t>
            </a:r>
          </a:p>
        </p:txBody>
      </p:sp>
      <p:sp>
        <p:nvSpPr>
          <p:cNvPr id="6" name="Oval 5"/>
          <p:cNvSpPr/>
          <p:nvPr/>
        </p:nvSpPr>
        <p:spPr>
          <a:xfrm>
            <a:off x="658368" y="1856231"/>
            <a:ext cx="329184" cy="32918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Lato" panose="020F0502020204030203" pitchFamily="34" charset="0"/>
                <a:ea typeface="Lato" panose="020F0502020204030203" pitchFamily="34" charset="0"/>
                <a:cs typeface="Lato" panose="020F0502020204030203" pitchFamily="34" charset="0"/>
              </a:rPr>
              <a:t>1</a:t>
            </a:r>
          </a:p>
        </p:txBody>
      </p:sp>
      <p:sp>
        <p:nvSpPr>
          <p:cNvPr id="7" name="TextBox 6"/>
          <p:cNvSpPr txBox="1"/>
          <p:nvPr/>
        </p:nvSpPr>
        <p:spPr>
          <a:xfrm>
            <a:off x="1143000" y="1828800"/>
            <a:ext cx="3154680" cy="430887"/>
          </a:xfrm>
          <a:prstGeom prst="rect">
            <a:avLst/>
          </a:prstGeom>
          <a:noFill/>
        </p:spPr>
        <p:txBody>
          <a:bodyPr wrap="square" lIns="0" tIns="0" rIns="0" bIns="0" anchor="t">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Ratio greedy theo từng UAV: route chỉ được chọn nếu UAV sở hữu còn đủ pin</a:t>
            </a:r>
          </a:p>
        </p:txBody>
      </p:sp>
      <p:sp>
        <p:nvSpPr>
          <p:cNvPr id="8" name="Oval 7"/>
          <p:cNvSpPr/>
          <p:nvPr/>
        </p:nvSpPr>
        <p:spPr>
          <a:xfrm>
            <a:off x="658368" y="2679191"/>
            <a:ext cx="329184" cy="32918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Lato" panose="020F0502020204030203" pitchFamily="34" charset="0"/>
                <a:ea typeface="Lato" panose="020F0502020204030203" pitchFamily="34" charset="0"/>
                <a:cs typeface="Lato" panose="020F0502020204030203" pitchFamily="34" charset="0"/>
              </a:rPr>
              <a:t>2</a:t>
            </a:r>
          </a:p>
        </p:txBody>
      </p:sp>
      <p:sp>
        <p:nvSpPr>
          <p:cNvPr id="9" name="TextBox 8"/>
          <p:cNvSpPr txBox="1"/>
          <p:nvPr/>
        </p:nvSpPr>
        <p:spPr>
          <a:xfrm>
            <a:off x="1143000" y="2651760"/>
            <a:ext cx="3154680" cy="215444"/>
          </a:xfrm>
          <a:prstGeom prst="rect">
            <a:avLst/>
          </a:prstGeom>
          <a:noFill/>
        </p:spPr>
        <p:txBody>
          <a:bodyPr wrap="square" lIns="0" tIns="0" rIns="0" bIns="0" anchor="t">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So với gói đơn tốt nhất</a:t>
            </a:r>
          </a:p>
        </p:txBody>
      </p:sp>
      <p:sp>
        <p:nvSpPr>
          <p:cNvPr id="10" name="Oval 9"/>
          <p:cNvSpPr/>
          <p:nvPr/>
        </p:nvSpPr>
        <p:spPr>
          <a:xfrm>
            <a:off x="658368" y="3502151"/>
            <a:ext cx="329184" cy="32918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Lato" panose="020F0502020204030203" pitchFamily="34" charset="0"/>
                <a:ea typeface="Lato" panose="020F0502020204030203" pitchFamily="34" charset="0"/>
                <a:cs typeface="Lato" panose="020F0502020204030203" pitchFamily="34" charset="0"/>
              </a:rPr>
              <a:t>3</a:t>
            </a:r>
          </a:p>
        </p:txBody>
      </p:sp>
      <p:sp>
        <p:nvSpPr>
          <p:cNvPr id="11" name="TextBox 10"/>
          <p:cNvSpPr txBox="1"/>
          <p:nvPr/>
        </p:nvSpPr>
        <p:spPr>
          <a:xfrm>
            <a:off x="1143000" y="3474720"/>
            <a:ext cx="3154680" cy="215444"/>
          </a:xfrm>
          <a:prstGeom prst="rect">
            <a:avLst/>
          </a:prstGeom>
          <a:noFill/>
        </p:spPr>
        <p:txBody>
          <a:bodyPr wrap="square" lIns="0" tIns="0" rIns="0" bIns="0" anchor="t">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Seed: tối đa 40 điểm khởi đầu</a:t>
            </a:r>
          </a:p>
        </p:txBody>
      </p:sp>
      <p:sp>
        <p:nvSpPr>
          <p:cNvPr id="12" name="Oval 11"/>
          <p:cNvSpPr/>
          <p:nvPr/>
        </p:nvSpPr>
        <p:spPr>
          <a:xfrm>
            <a:off x="658368" y="4325112"/>
            <a:ext cx="329184" cy="32918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Lato" panose="020F0502020204030203" pitchFamily="34" charset="0"/>
                <a:ea typeface="Lato" panose="020F0502020204030203" pitchFamily="34" charset="0"/>
                <a:cs typeface="Lato" panose="020F0502020204030203" pitchFamily="34" charset="0"/>
              </a:rPr>
              <a:t>4</a:t>
            </a:r>
          </a:p>
        </p:txBody>
      </p:sp>
      <p:sp>
        <p:nvSpPr>
          <p:cNvPr id="13" name="TextBox 12"/>
          <p:cNvSpPr txBox="1"/>
          <p:nvPr/>
        </p:nvSpPr>
        <p:spPr>
          <a:xfrm>
            <a:off x="1143000" y="4297680"/>
            <a:ext cx="3154680" cy="430887"/>
          </a:xfrm>
          <a:prstGeom prst="rect">
            <a:avLst/>
          </a:prstGeom>
          <a:noFill/>
        </p:spPr>
        <p:txBody>
          <a:bodyPr wrap="square" lIns="0" tIns="0" rIns="0" bIns="0" anchor="t">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Local search drop-and-refill, vẫn giữ pin từng UAV</a:t>
            </a:r>
          </a:p>
        </p:txBody>
      </p:sp>
      <p:sp>
        <p:nvSpPr>
          <p:cNvPr id="14" name="Rounded Rectangle 13"/>
          <p:cNvSpPr/>
          <p:nvPr/>
        </p:nvSpPr>
        <p:spPr>
          <a:xfrm>
            <a:off x="4663440" y="1005840"/>
            <a:ext cx="4023360" cy="416052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5" name="Rounded Rectangle 14"/>
          <p:cNvSpPr/>
          <p:nvPr/>
        </p:nvSpPr>
        <p:spPr>
          <a:xfrm>
            <a:off x="4663440" y="1005840"/>
            <a:ext cx="4023360" cy="640080"/>
          </a:xfrm>
          <a:prstGeom prst="roundRect">
            <a:avLst>
              <a:gd name="adj" fmla="val 6000"/>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6" name="TextBox 15"/>
          <p:cNvSpPr txBox="1"/>
          <p:nvPr/>
        </p:nvSpPr>
        <p:spPr>
          <a:xfrm>
            <a:off x="4892040" y="1171991"/>
            <a:ext cx="3566160" cy="307777"/>
          </a:xfrm>
          <a:prstGeom prst="rect">
            <a:avLst/>
          </a:prstGeom>
          <a:noFill/>
        </p:spPr>
        <p:txBody>
          <a:bodyPr wrap="square" lIns="0" tIns="0" rIns="0" bIns="0" anchor="ctr">
            <a:spAutoFit/>
          </a:bodyPr>
          <a:lstStyle/>
          <a:p>
            <a:pPr algn="l">
              <a:spcAft>
                <a:spcPts val="600"/>
              </a:spcAft>
            </a:pPr>
            <a:r>
              <a:rPr sz="2000" b="1" i="0">
                <a:solidFill>
                  <a:srgbClr val="FFFFFF"/>
                </a:solidFill>
                <a:latin typeface="Lato" panose="020F0502020204030203" pitchFamily="34" charset="0"/>
                <a:ea typeface="Lato" panose="020F0502020204030203" pitchFamily="34" charset="0"/>
                <a:cs typeface="Lato" panose="020F0502020204030203" pitchFamily="34" charset="0"/>
              </a:rPr>
              <a:t>naive (baseline)</a:t>
            </a:r>
          </a:p>
        </p:txBody>
      </p:sp>
      <p:sp>
        <p:nvSpPr>
          <p:cNvPr id="17" name="Oval 16"/>
          <p:cNvSpPr/>
          <p:nvPr/>
        </p:nvSpPr>
        <p:spPr>
          <a:xfrm>
            <a:off x="4864607" y="1856231"/>
            <a:ext cx="329184" cy="329184"/>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Lato" panose="020F0502020204030203" pitchFamily="34" charset="0"/>
                <a:ea typeface="Lato" panose="020F0502020204030203" pitchFamily="34" charset="0"/>
                <a:cs typeface="Lato" panose="020F0502020204030203" pitchFamily="34" charset="0"/>
              </a:rPr>
              <a:t>1</a:t>
            </a:r>
          </a:p>
        </p:txBody>
      </p:sp>
      <p:sp>
        <p:nvSpPr>
          <p:cNvPr id="18" name="TextBox 17"/>
          <p:cNvSpPr txBox="1"/>
          <p:nvPr/>
        </p:nvSpPr>
        <p:spPr>
          <a:xfrm>
            <a:off x="5349240" y="1828800"/>
            <a:ext cx="3154680" cy="430887"/>
          </a:xfrm>
          <a:prstGeom prst="rect">
            <a:avLst/>
          </a:prstGeom>
          <a:noFill/>
        </p:spPr>
        <p:txBody>
          <a:bodyPr wrap="square" lIns="0" tIns="0" rIns="0" bIns="0" anchor="t">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Giải với ngân sách chung ΣBᵤ (bỏ qua ranh giới UAV)</a:t>
            </a:r>
          </a:p>
        </p:txBody>
      </p:sp>
      <p:sp>
        <p:nvSpPr>
          <p:cNvPr id="19" name="Oval 18"/>
          <p:cNvSpPr/>
          <p:nvPr/>
        </p:nvSpPr>
        <p:spPr>
          <a:xfrm>
            <a:off x="4864607" y="2679191"/>
            <a:ext cx="329184" cy="329184"/>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Lato" panose="020F0502020204030203" pitchFamily="34" charset="0"/>
                <a:ea typeface="Lato" panose="020F0502020204030203" pitchFamily="34" charset="0"/>
                <a:cs typeface="Lato" panose="020F0502020204030203" pitchFamily="34" charset="0"/>
              </a:rPr>
              <a:t>2</a:t>
            </a:r>
          </a:p>
        </p:txBody>
      </p:sp>
      <p:sp>
        <p:nvSpPr>
          <p:cNvPr id="20" name="TextBox 19"/>
          <p:cNvSpPr txBox="1"/>
          <p:nvPr/>
        </p:nvSpPr>
        <p:spPr>
          <a:xfrm>
            <a:off x="5349240" y="2651760"/>
            <a:ext cx="3154680" cy="215444"/>
          </a:xfrm>
          <a:prstGeom prst="rect">
            <a:avLst/>
          </a:prstGeom>
          <a:noFill/>
        </p:spPr>
        <p:txBody>
          <a:bodyPr wrap="square" lIns="0" tIns="0" rIns="0" bIns="0" anchor="t">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Bỏ route của UAV bị vượt pin</a:t>
            </a:r>
          </a:p>
        </p:txBody>
      </p:sp>
      <p:sp>
        <p:nvSpPr>
          <p:cNvPr id="21" name="Oval 20"/>
          <p:cNvSpPr/>
          <p:nvPr/>
        </p:nvSpPr>
        <p:spPr>
          <a:xfrm>
            <a:off x="4864607" y="3502151"/>
            <a:ext cx="329184" cy="329184"/>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Lato" panose="020F0502020204030203" pitchFamily="34" charset="0"/>
                <a:ea typeface="Lato" panose="020F0502020204030203" pitchFamily="34" charset="0"/>
                <a:cs typeface="Lato" panose="020F0502020204030203" pitchFamily="34" charset="0"/>
              </a:rPr>
              <a:t>3</a:t>
            </a:r>
          </a:p>
        </p:txBody>
      </p:sp>
      <p:sp>
        <p:nvSpPr>
          <p:cNvPr id="22" name="TextBox 21"/>
          <p:cNvSpPr txBox="1"/>
          <p:nvPr/>
        </p:nvSpPr>
        <p:spPr>
          <a:xfrm>
            <a:off x="5349240" y="3474720"/>
            <a:ext cx="3154680" cy="215444"/>
          </a:xfrm>
          <a:prstGeom prst="rect">
            <a:avLst/>
          </a:prstGeom>
          <a:noFill/>
        </p:spPr>
        <p:txBody>
          <a:bodyPr wrap="square" lIns="0" tIns="0" rIns="0" bIns="0" anchor="t">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Lấp lại pin còn dư bằng ratio greedy</a:t>
            </a:r>
          </a:p>
        </p:txBody>
      </p:sp>
      <p:sp>
        <p:nvSpPr>
          <p:cNvPr id="23" name="Oval 22"/>
          <p:cNvSpPr/>
          <p:nvPr/>
        </p:nvSpPr>
        <p:spPr>
          <a:xfrm>
            <a:off x="4864607" y="4325112"/>
            <a:ext cx="329184" cy="329184"/>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Lato" panose="020F0502020204030203" pitchFamily="34" charset="0"/>
                <a:ea typeface="Lato" panose="020F0502020204030203" pitchFamily="34" charset="0"/>
                <a:cs typeface="Lato" panose="020F0502020204030203" pitchFamily="34" charset="0"/>
              </a:rPr>
              <a:t>4</a:t>
            </a:r>
          </a:p>
        </p:txBody>
      </p:sp>
      <p:sp>
        <p:nvSpPr>
          <p:cNvPr id="24" name="TextBox 23"/>
          <p:cNvSpPr txBox="1"/>
          <p:nvPr/>
        </p:nvSpPr>
        <p:spPr>
          <a:xfrm>
            <a:off x="5349240" y="4297680"/>
            <a:ext cx="3154680" cy="430887"/>
          </a:xfrm>
          <a:prstGeom prst="rect">
            <a:avLst/>
          </a:prstGeom>
          <a:noFill/>
        </p:spPr>
        <p:txBody>
          <a:bodyPr wrap="square" lIns="0" tIns="0" rIns="0" bIns="0" anchor="t">
            <a:spAutoFit/>
          </a:bodyPr>
          <a:lstStyle/>
          <a:p>
            <a:pPr algn="l">
              <a:spcAft>
                <a:spcPts val="600"/>
              </a:spcAft>
            </a:pPr>
            <a:r>
              <a:rPr sz="1400" b="0" i="0">
                <a:solidFill>
                  <a:srgbClr val="262626"/>
                </a:solidFill>
                <a:latin typeface="Lato" panose="020F0502020204030203" pitchFamily="34" charset="0"/>
                <a:ea typeface="Lato" panose="020F0502020204030203" pitchFamily="34" charset="0"/>
                <a:cs typeface="Lato" panose="020F0502020204030203" pitchFamily="34" charset="0"/>
              </a:rPr>
              <a:t>Cũng có seed và local search, nhưng ở pha ngân sách chung</a:t>
            </a:r>
          </a:p>
        </p:txBody>
      </p:sp>
      <p:sp>
        <p:nvSpPr>
          <p:cNvPr id="25" name="TextBox 24"/>
          <p:cNvSpPr txBox="1"/>
          <p:nvPr/>
        </p:nvSpPr>
        <p:spPr>
          <a:xfrm>
            <a:off x="457200" y="5349240"/>
            <a:ext cx="8229600" cy="400110"/>
          </a:xfrm>
          <a:prstGeom prst="rect">
            <a:avLst/>
          </a:prstGeom>
          <a:noFill/>
        </p:spPr>
        <p:txBody>
          <a:bodyPr wrap="square" lIns="0" tIns="0" rIns="0" bIns="0" anchor="t">
            <a:spAutoFit/>
          </a:bodyPr>
          <a:lstStyle/>
          <a:p>
            <a:pPr algn="l">
              <a:spcAft>
                <a:spcPts val="600"/>
              </a:spcAft>
            </a:pPr>
            <a:r>
              <a:rPr sz="1300" b="1" i="0">
                <a:solidFill>
                  <a:srgbClr val="C00000"/>
                </a:solidFill>
                <a:latin typeface="Lato" panose="020F0502020204030203" pitchFamily="34" charset="0"/>
                <a:ea typeface="Lato" panose="020F0502020204030203" pitchFamily="34" charset="0"/>
                <a:cs typeface="Lato" panose="020F0502020204030203" pitchFamily="34" charset="0"/>
              </a:rPr>
              <a:t>Độ phức tạp proposed: </a:t>
            </a:r>
            <a:r>
              <a:rPr sz="1300" b="0" i="0">
                <a:solidFill>
                  <a:srgbClr val="262626"/>
                </a:solidFill>
                <a:latin typeface="Lato" panose="020F0502020204030203" pitchFamily="34" charset="0"/>
                <a:ea typeface="Lato" panose="020F0502020204030203" pitchFamily="34" charset="0"/>
                <a:cs typeface="Lato" panose="020F0502020204030203" pitchFamily="34" charset="0"/>
              </a:rPr>
              <a:t>O((1 + S + r·k) · G), G = O(n·L·W) cho một lần greedy; thực tế khoảng 54 lần greedy mỗi lần giải.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Minh họa: proposed và naive</a:t>
            </a:r>
          </a:p>
        </p:txBody>
      </p:sp>
      <p:sp>
        <p:nvSpPr>
          <p:cNvPr id="5"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11</a:t>
            </a:fld>
            <a:endParaRPr lang="en-US" dirty="0"/>
          </a:p>
        </p:txBody>
      </p:sp>
      <p:pic>
        <p:nvPicPr>
          <p:cNvPr id="3" name="Picture 2" descr="routes_compare.png"/>
          <p:cNvPicPr>
            <a:picLocks noChangeAspect="1"/>
          </p:cNvPicPr>
          <p:nvPr/>
        </p:nvPicPr>
        <p:blipFill>
          <a:blip r:embed="rId3"/>
          <a:stretch>
            <a:fillRect/>
          </a:stretch>
        </p:blipFill>
        <p:spPr>
          <a:xfrm>
            <a:off x="457200" y="1051560"/>
            <a:ext cx="8229600" cy="4328938"/>
          </a:xfrm>
          <a:prstGeom prst="rect">
            <a:avLst/>
          </a:prstGeom>
        </p:spPr>
      </p:pic>
      <p:sp>
        <p:nvSpPr>
          <p:cNvPr id="4" name="TextBox 3"/>
          <p:cNvSpPr txBox="1"/>
          <p:nvPr/>
        </p:nvSpPr>
        <p:spPr>
          <a:xfrm>
            <a:off x="457200" y="5486400"/>
            <a:ext cx="8229600" cy="184666"/>
          </a:xfrm>
          <a:prstGeom prst="rect">
            <a:avLst/>
          </a:prstGeom>
          <a:noFill/>
        </p:spPr>
        <p:txBody>
          <a:bodyPr wrap="square" lIns="0" tIns="0" rIns="0" bIns="0" anchor="t">
            <a:spAutoFit/>
          </a:bodyPr>
          <a:lstStyle/>
          <a:p>
            <a:pPr algn="l">
              <a:spcAft>
                <a:spcPts val="600"/>
              </a:spcAft>
            </a:pPr>
            <a:r>
              <a:rPr sz="1200" b="0" i="0">
                <a:solidFill>
                  <a:srgbClr val="595959"/>
                </a:solidFill>
                <a:latin typeface="Lato" panose="020F0502020204030203" pitchFamily="34" charset="0"/>
                <a:ea typeface="Lato" panose="020F0502020204030203" pitchFamily="34" charset="0"/>
                <a:cs typeface="Lato" panose="020F0502020204030203" pitchFamily="34" charset="0"/>
              </a:rPr>
              <a:t>Ảnh 14071, mức pin 50%, ILP tối ưu. Mỗi màu là một UAV; nền đỏ là điểm rủi ro của ô.</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Kết quả 350 ảnh: 97–98% so với ILP</a:t>
            </a:r>
          </a:p>
        </p:txBody>
      </p:sp>
      <p:sp>
        <p:nvSpPr>
          <p:cNvPr id="9"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12</a:t>
            </a:fld>
            <a:endParaRPr lang="en-US" dirty="0"/>
          </a:p>
        </p:txBody>
      </p:sp>
      <p:graphicFrame>
        <p:nvGraphicFramePr>
          <p:cNvPr id="3" name="Chart 2"/>
          <p:cNvGraphicFramePr>
            <a:graphicFrameLocks noGrp="1"/>
          </p:cNvGraphicFramePr>
          <p:nvPr/>
        </p:nvGraphicFramePr>
        <p:xfrm>
          <a:off x="365760" y="914400"/>
          <a:ext cx="48463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457200" y="5440680"/>
            <a:ext cx="4754880" cy="457200"/>
          </a:xfrm>
          <a:prstGeom prst="rect">
            <a:avLst/>
          </a:prstGeom>
          <a:noFill/>
        </p:spPr>
        <p:txBody>
          <a:bodyPr wrap="square" lIns="0" tIns="0" rIns="0" bIns="0" anchor="t">
            <a:spAutoFit/>
          </a:bodyPr>
          <a:lstStyle/>
          <a:p>
            <a:pPr algn="l">
              <a:spcAft>
                <a:spcPts val="600"/>
              </a:spcAft>
            </a:pPr>
            <a:r>
              <a:rPr sz="1100" b="0" i="0">
                <a:solidFill>
                  <a:srgbClr val="595959"/>
                </a:solidFill>
                <a:latin typeface="Calibri"/>
              </a:rPr>
              <a:t>Tỉ lệ trung bình so với ILP theo mức pin (%), trục bắt đầu từ 85%</a:t>
            </a:r>
          </a:p>
        </p:txBody>
      </p:sp>
      <p:sp>
        <p:nvSpPr>
          <p:cNvPr id="5" name="TextBox 4"/>
          <p:cNvSpPr txBox="1"/>
          <p:nvPr/>
        </p:nvSpPr>
        <p:spPr>
          <a:xfrm>
            <a:off x="5440680" y="1005840"/>
            <a:ext cx="3246120" cy="365760"/>
          </a:xfrm>
          <a:prstGeom prst="rect">
            <a:avLst/>
          </a:prstGeom>
          <a:noFill/>
        </p:spPr>
        <p:txBody>
          <a:bodyPr wrap="square" lIns="0" tIns="0" rIns="0" bIns="0" anchor="t">
            <a:spAutoFit/>
          </a:bodyPr>
          <a:lstStyle/>
          <a:p>
            <a:pPr algn="l">
              <a:spcAft>
                <a:spcPts val="600"/>
              </a:spcAft>
            </a:pPr>
            <a:r>
              <a:rPr sz="1500" b="1" i="0">
                <a:solidFill>
                  <a:srgbClr val="C00000"/>
                </a:solidFill>
                <a:latin typeface="Calibri"/>
              </a:rPr>
              <a:t>proposed so với naive</a:t>
            </a:r>
          </a:p>
        </p:txBody>
      </p:sp>
      <p:graphicFrame>
        <p:nvGraphicFramePr>
          <p:cNvPr id="6" name="Table 5"/>
          <p:cNvGraphicFramePr>
            <a:graphicFrameLocks noGrp="1"/>
          </p:cNvGraphicFramePr>
          <p:nvPr/>
        </p:nvGraphicFramePr>
        <p:xfrm>
          <a:off x="5440680" y="1417320"/>
          <a:ext cx="3246120" cy="1920240"/>
        </p:xfrm>
        <a:graphic>
          <a:graphicData uri="http://schemas.openxmlformats.org/drawingml/2006/table">
            <a:tbl>
              <a:tblPr firstRow="1">
                <a:tableStyleId>{5940675A-B579-460E-94D1-54222C63F5DA}</a:tableStyleId>
              </a:tblPr>
              <a:tblGrid>
                <a:gridCol w="64008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84048">
                <a:tc>
                  <a:txBody>
                    <a:bodyPr/>
                    <a:lstStyle/>
                    <a:p>
                      <a:pPr algn="l"/>
                      <a:r>
                        <a:rPr sz="1200" b="1">
                          <a:solidFill>
                            <a:srgbClr val="FFFFFF"/>
                          </a:solidFill>
                          <a:latin typeface="Calibri"/>
                        </a:rPr>
                        <a:t>Mức</a:t>
                      </a:r>
                    </a:p>
                  </a:txBody>
                  <a:tcPr marL="54864" marR="54864" marT="27432" marB="27432" anchor="ctr">
                    <a:solidFill>
                      <a:srgbClr val="C00000"/>
                    </a:solidFill>
                  </a:tcPr>
                </a:tc>
                <a:tc>
                  <a:txBody>
                    <a:bodyPr/>
                    <a:lstStyle/>
                    <a:p>
                      <a:pPr algn="ctr"/>
                      <a:r>
                        <a:rPr sz="1200" b="1">
                          <a:solidFill>
                            <a:srgbClr val="FFFFFF"/>
                          </a:solidFill>
                          <a:latin typeface="Calibri"/>
                        </a:rPr>
                        <a:t>Thắng / hòa / thua</a:t>
                      </a:r>
                    </a:p>
                  </a:txBody>
                  <a:tcPr marL="54864" marR="54864" marT="27432" marB="27432" anchor="ctr">
                    <a:solidFill>
                      <a:srgbClr val="C00000"/>
                    </a:solidFill>
                  </a:tcPr>
                </a:tc>
                <a:tc>
                  <a:txBody>
                    <a:bodyPr/>
                    <a:lstStyle/>
                    <a:p>
                      <a:pPr algn="ctr"/>
                      <a:r>
                        <a:rPr sz="1200" b="1">
                          <a:solidFill>
                            <a:srgbClr val="FFFFFF"/>
                          </a:solidFill>
                          <a:latin typeface="Calibri"/>
                        </a:rPr>
                        <a:t>Wilcoxon p</a:t>
                      </a:r>
                    </a:p>
                  </a:txBody>
                  <a:tcPr marL="54864" marR="54864" marT="27432" marB="27432" anchor="ctr">
                    <a:solidFill>
                      <a:srgbClr val="C00000"/>
                    </a:solidFill>
                  </a:tcPr>
                </a:tc>
                <a:extLst>
                  <a:ext uri="{0D108BD9-81ED-4DB2-BD59-A6C34878D82A}">
                    <a16:rowId xmlns:a16="http://schemas.microsoft.com/office/drawing/2014/main" val="10000"/>
                  </a:ext>
                </a:extLst>
              </a:tr>
              <a:tr h="384048">
                <a:tc>
                  <a:txBody>
                    <a:bodyPr/>
                    <a:lstStyle/>
                    <a:p>
                      <a:pPr algn="l"/>
                      <a:r>
                        <a:rPr sz="1200" b="0">
                          <a:solidFill>
                            <a:srgbClr val="262626"/>
                          </a:solidFill>
                          <a:latin typeface="Calibri"/>
                        </a:rPr>
                        <a:t>25%</a:t>
                      </a:r>
                    </a:p>
                  </a:txBody>
                  <a:tcPr marL="54864" marR="54864" marT="27432" marB="27432" anchor="ctr">
                    <a:solidFill>
                      <a:srgbClr val="FFFFFF"/>
                    </a:solidFill>
                  </a:tcPr>
                </a:tc>
                <a:tc>
                  <a:txBody>
                    <a:bodyPr/>
                    <a:lstStyle/>
                    <a:p>
                      <a:pPr algn="ctr"/>
                      <a:r>
                        <a:rPr sz="1200" b="0">
                          <a:solidFill>
                            <a:srgbClr val="262626"/>
                          </a:solidFill>
                          <a:latin typeface="Calibri"/>
                        </a:rPr>
                        <a:t>265 / 83 / 1</a:t>
                      </a:r>
                    </a:p>
                  </a:txBody>
                  <a:tcPr marL="54864" marR="54864" marT="27432" marB="27432" anchor="ctr">
                    <a:solidFill>
                      <a:srgbClr val="FFFFFF"/>
                    </a:solidFill>
                  </a:tcPr>
                </a:tc>
                <a:tc>
                  <a:txBody>
                    <a:bodyPr/>
                    <a:lstStyle/>
                    <a:p>
                      <a:pPr algn="ctr"/>
                      <a:r>
                        <a:rPr sz="1200" b="0">
                          <a:solidFill>
                            <a:srgbClr val="262626"/>
                          </a:solidFill>
                          <a:latin typeface="Calibri"/>
                        </a:rPr>
                        <a:t>4,5e-45</a:t>
                      </a:r>
                    </a:p>
                  </a:txBody>
                  <a:tcPr marL="54864" marR="54864" marT="27432" marB="27432" anchor="ctr">
                    <a:solidFill>
                      <a:srgbClr val="FFFFFF"/>
                    </a:solidFill>
                  </a:tcPr>
                </a:tc>
                <a:extLst>
                  <a:ext uri="{0D108BD9-81ED-4DB2-BD59-A6C34878D82A}">
                    <a16:rowId xmlns:a16="http://schemas.microsoft.com/office/drawing/2014/main" val="10001"/>
                  </a:ext>
                </a:extLst>
              </a:tr>
              <a:tr h="384048">
                <a:tc>
                  <a:txBody>
                    <a:bodyPr/>
                    <a:lstStyle/>
                    <a:p>
                      <a:pPr algn="l"/>
                      <a:r>
                        <a:rPr sz="1200" b="0">
                          <a:solidFill>
                            <a:srgbClr val="262626"/>
                          </a:solidFill>
                          <a:latin typeface="Calibri"/>
                        </a:rPr>
                        <a:t>50%</a:t>
                      </a:r>
                    </a:p>
                  </a:txBody>
                  <a:tcPr marL="54864" marR="54864" marT="27432" marB="27432" anchor="ctr">
                    <a:solidFill>
                      <a:srgbClr val="F4F1F1"/>
                    </a:solidFill>
                  </a:tcPr>
                </a:tc>
                <a:tc>
                  <a:txBody>
                    <a:bodyPr/>
                    <a:lstStyle/>
                    <a:p>
                      <a:pPr algn="ctr"/>
                      <a:r>
                        <a:rPr sz="1200" b="0">
                          <a:solidFill>
                            <a:srgbClr val="262626"/>
                          </a:solidFill>
                          <a:latin typeface="Calibri"/>
                        </a:rPr>
                        <a:t>321 / 23 / 6</a:t>
                      </a:r>
                    </a:p>
                  </a:txBody>
                  <a:tcPr marL="54864" marR="54864" marT="27432" marB="27432" anchor="ctr">
                    <a:solidFill>
                      <a:srgbClr val="F4F1F1"/>
                    </a:solidFill>
                  </a:tcPr>
                </a:tc>
                <a:tc>
                  <a:txBody>
                    <a:bodyPr/>
                    <a:lstStyle/>
                    <a:p>
                      <a:pPr algn="ctr"/>
                      <a:r>
                        <a:rPr sz="1200" b="0">
                          <a:solidFill>
                            <a:srgbClr val="262626"/>
                          </a:solidFill>
                          <a:latin typeface="Calibri"/>
                        </a:rPr>
                        <a:t>8,2e-55</a:t>
                      </a:r>
                    </a:p>
                  </a:txBody>
                  <a:tcPr marL="54864" marR="54864" marT="27432" marB="27432" anchor="ctr">
                    <a:solidFill>
                      <a:srgbClr val="F4F1F1"/>
                    </a:solidFill>
                  </a:tcPr>
                </a:tc>
                <a:extLst>
                  <a:ext uri="{0D108BD9-81ED-4DB2-BD59-A6C34878D82A}">
                    <a16:rowId xmlns:a16="http://schemas.microsoft.com/office/drawing/2014/main" val="10002"/>
                  </a:ext>
                </a:extLst>
              </a:tr>
              <a:tr h="384048">
                <a:tc>
                  <a:txBody>
                    <a:bodyPr/>
                    <a:lstStyle/>
                    <a:p>
                      <a:pPr algn="l"/>
                      <a:r>
                        <a:rPr sz="1200" b="0">
                          <a:solidFill>
                            <a:srgbClr val="262626"/>
                          </a:solidFill>
                          <a:latin typeface="Calibri"/>
                        </a:rPr>
                        <a:t>75%</a:t>
                      </a:r>
                    </a:p>
                  </a:txBody>
                  <a:tcPr marL="54864" marR="54864" marT="27432" marB="27432" anchor="ctr">
                    <a:solidFill>
                      <a:srgbClr val="FFFFFF"/>
                    </a:solidFill>
                  </a:tcPr>
                </a:tc>
                <a:tc>
                  <a:txBody>
                    <a:bodyPr/>
                    <a:lstStyle/>
                    <a:p>
                      <a:pPr algn="ctr"/>
                      <a:r>
                        <a:rPr sz="1200" b="0">
                          <a:solidFill>
                            <a:srgbClr val="262626"/>
                          </a:solidFill>
                          <a:latin typeface="Calibri"/>
                        </a:rPr>
                        <a:t>333 / 6 / 11</a:t>
                      </a:r>
                    </a:p>
                  </a:txBody>
                  <a:tcPr marL="54864" marR="54864" marT="27432" marB="27432" anchor="ctr">
                    <a:solidFill>
                      <a:srgbClr val="FFFFFF"/>
                    </a:solidFill>
                  </a:tcPr>
                </a:tc>
                <a:tc>
                  <a:txBody>
                    <a:bodyPr/>
                    <a:lstStyle/>
                    <a:p>
                      <a:pPr algn="ctr"/>
                      <a:r>
                        <a:rPr sz="1200" b="0">
                          <a:solidFill>
                            <a:srgbClr val="262626"/>
                          </a:solidFill>
                          <a:latin typeface="Calibri"/>
                        </a:rPr>
                        <a:t>1,3e-56</a:t>
                      </a:r>
                    </a:p>
                  </a:txBody>
                  <a:tcPr marL="54864" marR="54864" marT="27432" marB="27432" anchor="ctr">
                    <a:solidFill>
                      <a:srgbClr val="FFFFFF"/>
                    </a:solidFill>
                  </a:tcPr>
                </a:tc>
                <a:extLst>
                  <a:ext uri="{0D108BD9-81ED-4DB2-BD59-A6C34878D82A}">
                    <a16:rowId xmlns:a16="http://schemas.microsoft.com/office/drawing/2014/main" val="10003"/>
                  </a:ext>
                </a:extLst>
              </a:tr>
              <a:tr h="384048">
                <a:tc>
                  <a:txBody>
                    <a:bodyPr/>
                    <a:lstStyle/>
                    <a:p>
                      <a:pPr algn="l"/>
                      <a:r>
                        <a:rPr sz="1200" b="0">
                          <a:solidFill>
                            <a:srgbClr val="262626"/>
                          </a:solidFill>
                          <a:latin typeface="Calibri"/>
                        </a:rPr>
                        <a:t>100%</a:t>
                      </a:r>
                    </a:p>
                  </a:txBody>
                  <a:tcPr marL="54864" marR="54864" marT="27432" marB="27432" anchor="ctr">
                    <a:solidFill>
                      <a:srgbClr val="F4F1F1"/>
                    </a:solidFill>
                  </a:tcPr>
                </a:tc>
                <a:tc>
                  <a:txBody>
                    <a:bodyPr/>
                    <a:lstStyle/>
                    <a:p>
                      <a:pPr algn="ctr"/>
                      <a:r>
                        <a:rPr sz="1200" b="0">
                          <a:solidFill>
                            <a:srgbClr val="262626"/>
                          </a:solidFill>
                          <a:latin typeface="Calibri"/>
                        </a:rPr>
                        <a:t>334 / 1 / 15</a:t>
                      </a:r>
                    </a:p>
                  </a:txBody>
                  <a:tcPr marL="54864" marR="54864" marT="27432" marB="27432" anchor="ctr">
                    <a:solidFill>
                      <a:srgbClr val="F4F1F1"/>
                    </a:solidFill>
                  </a:tcPr>
                </a:tc>
                <a:tc>
                  <a:txBody>
                    <a:bodyPr/>
                    <a:lstStyle/>
                    <a:p>
                      <a:pPr algn="ctr"/>
                      <a:r>
                        <a:rPr sz="1200" b="0">
                          <a:solidFill>
                            <a:srgbClr val="262626"/>
                          </a:solidFill>
                          <a:latin typeface="Calibri"/>
                        </a:rPr>
                        <a:t>3,9e-57</a:t>
                      </a:r>
                    </a:p>
                  </a:txBody>
                  <a:tcPr marL="54864" marR="54864" marT="27432" marB="27432" anchor="ctr">
                    <a:solidFill>
                      <a:srgbClr val="F4F1F1"/>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5440680" y="3657600"/>
            <a:ext cx="3246120" cy="173736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77840" y="3749039"/>
            <a:ext cx="3017520" cy="1600200"/>
          </a:xfrm>
          <a:prstGeom prst="rect">
            <a:avLst/>
          </a:prstGeom>
          <a:noFill/>
        </p:spPr>
        <p:txBody>
          <a:bodyPr wrap="square" lIns="0" tIns="0" rIns="0" bIns="0" anchor="t">
            <a:spAutoFit/>
          </a:bodyPr>
          <a:lstStyle/>
          <a:p>
            <a:pPr algn="l">
              <a:spcAft>
                <a:spcPts val="200"/>
              </a:spcAft>
            </a:pPr>
            <a:r>
              <a:rPr sz="2200" b="1" i="0">
                <a:solidFill>
                  <a:srgbClr val="C00000"/>
                </a:solidFill>
                <a:latin typeface="Calibri"/>
              </a:rPr>
              <a:t>8400</a:t>
            </a:r>
            <a:r>
              <a:rPr sz="1400" b="0" i="0">
                <a:solidFill>
                  <a:srgbClr val="262626"/>
                </a:solidFill>
                <a:latin typeface="Calibri"/>
              </a:rPr>
              <a:t> file kết quả</a:t>
            </a:r>
          </a:p>
          <a:p>
            <a:pPr algn="l">
              <a:spcAft>
                <a:spcPts val="200"/>
              </a:spcAft>
            </a:pPr>
            <a:r>
              <a:rPr sz="2200" b="1" i="0">
                <a:solidFill>
                  <a:srgbClr val="C00000"/>
                </a:solidFill>
                <a:latin typeface="Calibri"/>
              </a:rPr>
              <a:t>0</a:t>
            </a:r>
            <a:r>
              <a:rPr sz="1400" b="0" i="0">
                <a:solidFill>
                  <a:srgbClr val="262626"/>
                </a:solidFill>
                <a:latin typeface="Calibri"/>
              </a:rPr>
              <a:t> lỗi validator</a:t>
            </a:r>
          </a:p>
          <a:p>
            <a:pPr algn="l">
              <a:spcAft>
                <a:spcPts val="200"/>
              </a:spcAft>
            </a:pPr>
            <a:r>
              <a:rPr sz="2200" b="1" i="0">
                <a:solidFill>
                  <a:srgbClr val="C00000"/>
                </a:solidFill>
                <a:latin typeface="Calibri"/>
              </a:rPr>
              <a:t>0</a:t>
            </a:r>
            <a:r>
              <a:rPr sz="1400" b="0" i="0">
                <a:solidFill>
                  <a:srgbClr val="262626"/>
                </a:solidFill>
                <a:latin typeface="Calibri"/>
              </a:rPr>
              <a:t> lần heuristic vượt ILP tối ưu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Ablation: seed đóng góp nhiều nhất</a:t>
            </a:r>
          </a:p>
        </p:txBody>
      </p:sp>
      <p:sp>
        <p:nvSpPr>
          <p:cNvPr id="14"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13</a:t>
            </a:fld>
            <a:endParaRPr lang="en-US" dirty="0"/>
          </a:p>
        </p:txBody>
      </p:sp>
      <p:graphicFrame>
        <p:nvGraphicFramePr>
          <p:cNvPr id="3" name="Chart 2"/>
          <p:cNvGraphicFramePr>
            <a:graphicFrameLocks noGrp="1"/>
          </p:cNvGraphicFramePr>
          <p:nvPr>
            <p:extLst>
              <p:ext uri="{D42A27DB-BD31-4B8C-83A1-F6EECF244321}">
                <p14:modId xmlns:p14="http://schemas.microsoft.com/office/powerpoint/2010/main" val="1322241660"/>
              </p:ext>
            </p:extLst>
          </p:nvPr>
        </p:nvGraphicFramePr>
        <p:xfrm>
          <a:off x="365760" y="914400"/>
          <a:ext cx="84124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p:cNvSpPr txBox="1"/>
          <p:nvPr/>
        </p:nvSpPr>
        <p:spPr>
          <a:xfrm>
            <a:off x="457200" y="4526280"/>
            <a:ext cx="8229600" cy="169277"/>
          </a:xfrm>
          <a:prstGeom prst="rect">
            <a:avLst/>
          </a:prstGeom>
          <a:noFill/>
        </p:spPr>
        <p:txBody>
          <a:bodyPr wrap="square" lIns="0" tIns="0" rIns="0" bIns="0" anchor="t">
            <a:spAutoFit/>
          </a:bodyPr>
          <a:lstStyle/>
          <a:p>
            <a:pPr algn="l">
              <a:spcAft>
                <a:spcPts val="600"/>
              </a:spcAft>
            </a:pPr>
            <a:r>
              <a:rPr sz="1100" b="0" i="0">
                <a:solidFill>
                  <a:srgbClr val="595959"/>
                </a:solidFill>
                <a:latin typeface="Lato" panose="020F0502020204030203" pitchFamily="34" charset="0"/>
                <a:ea typeface="Lato" panose="020F0502020204030203" pitchFamily="34" charset="0"/>
                <a:cs typeface="Lato" panose="020F0502020204030203" pitchFamily="34" charset="0"/>
              </a:rPr>
              <a:t>Tỉ lệ trung bình so với ILP trên 350 ảnh (%), trục bắt đầu từ 88%</a:t>
            </a:r>
          </a:p>
        </p:txBody>
      </p:sp>
      <p:sp>
        <p:nvSpPr>
          <p:cNvPr id="5" name="Rounded Rectangle 4"/>
          <p:cNvSpPr/>
          <p:nvPr/>
        </p:nvSpPr>
        <p:spPr>
          <a:xfrm>
            <a:off x="457200" y="4892040"/>
            <a:ext cx="2606040" cy="96012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6" name="TextBox 5"/>
          <p:cNvSpPr txBox="1"/>
          <p:nvPr/>
        </p:nvSpPr>
        <p:spPr>
          <a:xfrm>
            <a:off x="594360" y="4965192"/>
            <a:ext cx="2377440" cy="215444"/>
          </a:xfrm>
          <a:prstGeom prst="rect">
            <a:avLst/>
          </a:prstGeom>
          <a:noFill/>
        </p:spPr>
        <p:txBody>
          <a:bodyPr wrap="square" lIns="0" tIns="0" rIns="0" bIns="0" anchor="t">
            <a:spAutoFit/>
          </a:bodyPr>
          <a:lstStyle/>
          <a:p>
            <a:pPr algn="l">
              <a:spcAft>
                <a:spcPts val="600"/>
              </a:spcAft>
            </a:pPr>
            <a:r>
              <a:rPr sz="1400" b="1" i="0">
                <a:solidFill>
                  <a:srgbClr val="C00000"/>
                </a:solidFill>
                <a:latin typeface="Lato" panose="020F0502020204030203" pitchFamily="34" charset="0"/>
                <a:ea typeface="Lato" panose="020F0502020204030203" pitchFamily="34" charset="0"/>
                <a:cs typeface="Lato" panose="020F0502020204030203" pitchFamily="34" charset="0"/>
              </a:rPr>
              <a:t>Seed</a:t>
            </a:r>
          </a:p>
        </p:txBody>
      </p:sp>
      <p:sp>
        <p:nvSpPr>
          <p:cNvPr id="7" name="TextBox 6"/>
          <p:cNvSpPr txBox="1"/>
          <p:nvPr/>
        </p:nvSpPr>
        <p:spPr>
          <a:xfrm>
            <a:off x="594360" y="5303520"/>
            <a:ext cx="2377440" cy="200055"/>
          </a:xfrm>
          <a:prstGeom prst="rect">
            <a:avLst/>
          </a:prstGeom>
          <a:noFill/>
        </p:spPr>
        <p:txBody>
          <a:bodyPr wrap="square" lIns="0" tIns="0" rIns="0" bIns="0" anchor="t">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Bỏ seed: giảm 1,7–3,4 điểm.</a:t>
            </a:r>
          </a:p>
        </p:txBody>
      </p:sp>
      <p:sp>
        <p:nvSpPr>
          <p:cNvPr id="8" name="Rounded Rectangle 7"/>
          <p:cNvSpPr/>
          <p:nvPr/>
        </p:nvSpPr>
        <p:spPr>
          <a:xfrm>
            <a:off x="3246120" y="4892040"/>
            <a:ext cx="2606040" cy="96012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9" name="TextBox 8"/>
          <p:cNvSpPr txBox="1"/>
          <p:nvPr/>
        </p:nvSpPr>
        <p:spPr>
          <a:xfrm>
            <a:off x="3383279" y="4965192"/>
            <a:ext cx="2377440" cy="215444"/>
          </a:xfrm>
          <a:prstGeom prst="rect">
            <a:avLst/>
          </a:prstGeom>
          <a:noFill/>
        </p:spPr>
        <p:txBody>
          <a:bodyPr wrap="square" lIns="0" tIns="0" rIns="0" bIns="0" anchor="t">
            <a:spAutoFit/>
          </a:bodyPr>
          <a:lstStyle/>
          <a:p>
            <a:pPr algn="l">
              <a:spcAft>
                <a:spcPts val="600"/>
              </a:spcAft>
            </a:pPr>
            <a:r>
              <a:rPr sz="1400" b="1" i="0">
                <a:solidFill>
                  <a:srgbClr val="C00000"/>
                </a:solidFill>
                <a:latin typeface="Lato" panose="020F0502020204030203" pitchFamily="34" charset="0"/>
                <a:ea typeface="Lato" panose="020F0502020204030203" pitchFamily="34" charset="0"/>
                <a:cs typeface="Lato" panose="020F0502020204030203" pitchFamily="34" charset="0"/>
              </a:rPr>
              <a:t>Local search</a:t>
            </a:r>
          </a:p>
        </p:txBody>
      </p:sp>
      <p:sp>
        <p:nvSpPr>
          <p:cNvPr id="10" name="TextBox 9"/>
          <p:cNvSpPr txBox="1"/>
          <p:nvPr/>
        </p:nvSpPr>
        <p:spPr>
          <a:xfrm>
            <a:off x="3383279" y="5303520"/>
            <a:ext cx="2377440" cy="200055"/>
          </a:xfrm>
          <a:prstGeom prst="rect">
            <a:avLst/>
          </a:prstGeom>
          <a:noFill/>
        </p:spPr>
        <p:txBody>
          <a:bodyPr wrap="square" lIns="0" tIns="0" rIns="0" bIns="0" anchor="t">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Bỏ LS: giảm 0,3–0,8 điểm.</a:t>
            </a:r>
          </a:p>
        </p:txBody>
      </p:sp>
      <p:sp>
        <p:nvSpPr>
          <p:cNvPr id="11" name="Rounded Rectangle 10"/>
          <p:cNvSpPr/>
          <p:nvPr/>
        </p:nvSpPr>
        <p:spPr>
          <a:xfrm>
            <a:off x="6035040" y="4892040"/>
            <a:ext cx="2606040" cy="96012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2" name="TextBox 11"/>
          <p:cNvSpPr txBox="1"/>
          <p:nvPr/>
        </p:nvSpPr>
        <p:spPr>
          <a:xfrm>
            <a:off x="6172200" y="4965192"/>
            <a:ext cx="2377440" cy="215444"/>
          </a:xfrm>
          <a:prstGeom prst="rect">
            <a:avLst/>
          </a:prstGeom>
          <a:noFill/>
        </p:spPr>
        <p:txBody>
          <a:bodyPr wrap="square" lIns="0" tIns="0" rIns="0" bIns="0" anchor="t">
            <a:spAutoFit/>
          </a:bodyPr>
          <a:lstStyle/>
          <a:p>
            <a:pPr algn="l">
              <a:spcAft>
                <a:spcPts val="600"/>
              </a:spcAft>
            </a:pPr>
            <a:r>
              <a:rPr sz="1400" b="1" i="0">
                <a:solidFill>
                  <a:srgbClr val="C00000"/>
                </a:solidFill>
                <a:latin typeface="Lato" panose="020F0502020204030203" pitchFamily="34" charset="0"/>
                <a:ea typeface="Lato" panose="020F0502020204030203" pitchFamily="34" charset="0"/>
                <a:cs typeface="Lato" panose="020F0502020204030203" pitchFamily="34" charset="0"/>
              </a:rPr>
              <a:t>Pin từng UAV</a:t>
            </a:r>
          </a:p>
        </p:txBody>
      </p:sp>
      <p:sp>
        <p:nvSpPr>
          <p:cNvPr id="13" name="TextBox 12"/>
          <p:cNvSpPr txBox="1"/>
          <p:nvPr/>
        </p:nvSpPr>
        <p:spPr>
          <a:xfrm>
            <a:off x="6172200" y="5303520"/>
            <a:ext cx="2377440" cy="400110"/>
          </a:xfrm>
          <a:prstGeom prst="rect">
            <a:avLst/>
          </a:prstGeom>
          <a:noFill/>
        </p:spPr>
        <p:txBody>
          <a:bodyPr wrap="square" lIns="0" tIns="0" rIns="0" bIns="0" anchor="t">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Một mình chỉ hơn naive ~1 điểm.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Thời gian: nhanh hơn ILP khoảng 900 lần</a:t>
            </a:r>
          </a:p>
        </p:txBody>
      </p:sp>
      <p:sp>
        <p:nvSpPr>
          <p:cNvPr id="18"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Rounded Rectangle 2"/>
          <p:cNvSpPr/>
          <p:nvPr/>
        </p:nvSpPr>
        <p:spPr>
          <a:xfrm>
            <a:off x="457200" y="1005840"/>
            <a:ext cx="4023360" cy="155448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4" name="TextBox 3"/>
          <p:cNvSpPr txBox="1"/>
          <p:nvPr/>
        </p:nvSpPr>
        <p:spPr>
          <a:xfrm>
            <a:off x="685800" y="1143000"/>
            <a:ext cx="3566160" cy="523220"/>
          </a:xfrm>
          <a:prstGeom prst="rect">
            <a:avLst/>
          </a:prstGeom>
          <a:noFill/>
        </p:spPr>
        <p:txBody>
          <a:bodyPr wrap="square" lIns="0" tIns="0" rIns="0" bIns="0" anchor="t">
            <a:spAutoFit/>
          </a:bodyPr>
          <a:lstStyle/>
          <a:p>
            <a:pPr algn="l">
              <a:spcAft>
                <a:spcPts val="600"/>
              </a:spcAft>
            </a:pPr>
            <a:r>
              <a:rPr sz="3400" b="1" i="0">
                <a:solidFill>
                  <a:srgbClr val="C00000"/>
                </a:solidFill>
                <a:latin typeface="Lato" panose="020F0502020204030203" pitchFamily="34" charset="0"/>
                <a:ea typeface="Lato" panose="020F0502020204030203" pitchFamily="34" charset="0"/>
                <a:cs typeface="Lato" panose="020F0502020204030203" pitchFamily="34" charset="0"/>
              </a:rPr>
              <a:t>46 ms</a:t>
            </a:r>
          </a:p>
        </p:txBody>
      </p:sp>
      <p:sp>
        <p:nvSpPr>
          <p:cNvPr id="5" name="TextBox 4"/>
          <p:cNvSpPr txBox="1"/>
          <p:nvPr/>
        </p:nvSpPr>
        <p:spPr>
          <a:xfrm>
            <a:off x="685800" y="1874519"/>
            <a:ext cx="3566160" cy="400110"/>
          </a:xfrm>
          <a:prstGeom prst="rect">
            <a:avLst/>
          </a:prstGeom>
          <a:noFill/>
        </p:spPr>
        <p:txBody>
          <a:bodyPr wrap="square" lIns="0" tIns="0" rIns="0" bIns="0" anchor="t">
            <a:spAutoFit/>
          </a:bodyPr>
          <a:lstStyle/>
          <a:p>
            <a:pPr algn="l">
              <a:spcAft>
                <a:spcPts val="0"/>
              </a:spcAft>
            </a:pPr>
            <a:r>
              <a:rPr sz="1300" b="0" i="0">
                <a:solidFill>
                  <a:srgbClr val="595959"/>
                </a:solidFill>
                <a:latin typeface="Lato" panose="020F0502020204030203" pitchFamily="34" charset="0"/>
                <a:ea typeface="Lato" panose="020F0502020204030203" pitchFamily="34" charset="0"/>
                <a:cs typeface="Lato" panose="020F0502020204030203" pitchFamily="34" charset="0"/>
              </a:rPr>
              <a:t>proposed, trung bình</a:t>
            </a:r>
          </a:p>
          <a:p>
            <a:pPr algn="l">
              <a:spcAft>
                <a:spcPts val="0"/>
              </a:spcAft>
            </a:pPr>
            <a:r>
              <a:rPr sz="1300" b="0" i="0">
                <a:solidFill>
                  <a:srgbClr val="595959"/>
                </a:solidFill>
                <a:latin typeface="Lato" panose="020F0502020204030203" pitchFamily="34" charset="0"/>
                <a:ea typeface="Lato" panose="020F0502020204030203" pitchFamily="34" charset="0"/>
                <a:cs typeface="Lato" panose="020F0502020204030203" pitchFamily="34" charset="0"/>
              </a:rPr>
              <a:t>(lớn nhất 245 ms)</a:t>
            </a:r>
          </a:p>
        </p:txBody>
      </p:sp>
      <p:sp>
        <p:nvSpPr>
          <p:cNvPr id="6" name="Rounded Rectangle 5"/>
          <p:cNvSpPr/>
          <p:nvPr/>
        </p:nvSpPr>
        <p:spPr>
          <a:xfrm>
            <a:off x="4663440" y="1005840"/>
            <a:ext cx="4023360" cy="155448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7" name="TextBox 6"/>
          <p:cNvSpPr txBox="1"/>
          <p:nvPr/>
        </p:nvSpPr>
        <p:spPr>
          <a:xfrm>
            <a:off x="4892040" y="1143000"/>
            <a:ext cx="3566160" cy="523220"/>
          </a:xfrm>
          <a:prstGeom prst="rect">
            <a:avLst/>
          </a:prstGeom>
          <a:noFill/>
        </p:spPr>
        <p:txBody>
          <a:bodyPr wrap="square" lIns="0" tIns="0" rIns="0" bIns="0" anchor="t">
            <a:spAutoFit/>
          </a:bodyPr>
          <a:lstStyle/>
          <a:p>
            <a:pPr algn="l">
              <a:spcAft>
                <a:spcPts val="600"/>
              </a:spcAft>
            </a:pPr>
            <a:r>
              <a:rPr sz="3400" b="1" i="0">
                <a:solidFill>
                  <a:srgbClr val="262626"/>
                </a:solidFill>
                <a:latin typeface="Lato" panose="020F0502020204030203" pitchFamily="34" charset="0"/>
                <a:ea typeface="Lato" panose="020F0502020204030203" pitchFamily="34" charset="0"/>
                <a:cs typeface="Lato" panose="020F0502020204030203" pitchFamily="34" charset="0"/>
              </a:rPr>
              <a:t>3–66 s</a:t>
            </a:r>
          </a:p>
        </p:txBody>
      </p:sp>
      <p:sp>
        <p:nvSpPr>
          <p:cNvPr id="8" name="TextBox 7"/>
          <p:cNvSpPr txBox="1"/>
          <p:nvPr/>
        </p:nvSpPr>
        <p:spPr>
          <a:xfrm>
            <a:off x="4892040" y="1874519"/>
            <a:ext cx="3566160" cy="400110"/>
          </a:xfrm>
          <a:prstGeom prst="rect">
            <a:avLst/>
          </a:prstGeom>
          <a:noFill/>
        </p:spPr>
        <p:txBody>
          <a:bodyPr wrap="square" lIns="0" tIns="0" rIns="0" bIns="0" anchor="t">
            <a:spAutoFit/>
          </a:bodyPr>
          <a:lstStyle/>
          <a:p>
            <a:pPr algn="l">
              <a:spcAft>
                <a:spcPts val="0"/>
              </a:spcAft>
            </a:pPr>
            <a:r>
              <a:rPr sz="1300" b="0" i="0">
                <a:solidFill>
                  <a:srgbClr val="595959"/>
                </a:solidFill>
                <a:latin typeface="Lato" panose="020F0502020204030203" pitchFamily="34" charset="0"/>
                <a:ea typeface="Lato" panose="020F0502020204030203" pitchFamily="34" charset="0"/>
                <a:cs typeface="Lato" panose="020F0502020204030203" pitchFamily="34" charset="0"/>
              </a:rPr>
              <a:t>ILP trung bình theo mức pin</a:t>
            </a:r>
          </a:p>
          <a:p>
            <a:pPr algn="l">
              <a:spcAft>
                <a:spcPts val="0"/>
              </a:spcAft>
            </a:pPr>
            <a:r>
              <a:rPr sz="1300" b="0" i="0">
                <a:solidFill>
                  <a:srgbClr val="595959"/>
                </a:solidFill>
                <a:latin typeface="Lato" panose="020F0502020204030203" pitchFamily="34" charset="0"/>
                <a:ea typeface="Lato" panose="020F0502020204030203" pitchFamily="34" charset="0"/>
                <a:cs typeface="Lato" panose="020F0502020204030203" pitchFamily="34" charset="0"/>
              </a:rPr>
              <a:t>(giới hạn 120 s)</a:t>
            </a:r>
          </a:p>
        </p:txBody>
      </p:sp>
      <p:sp>
        <p:nvSpPr>
          <p:cNvPr id="9" name="Rounded Rectangle 8"/>
          <p:cNvSpPr/>
          <p:nvPr/>
        </p:nvSpPr>
        <p:spPr>
          <a:xfrm>
            <a:off x="457200" y="2743200"/>
            <a:ext cx="4023360" cy="155448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0" name="TextBox 9"/>
          <p:cNvSpPr txBox="1"/>
          <p:nvPr/>
        </p:nvSpPr>
        <p:spPr>
          <a:xfrm>
            <a:off x="685800" y="2880360"/>
            <a:ext cx="3566160" cy="523220"/>
          </a:xfrm>
          <a:prstGeom prst="rect">
            <a:avLst/>
          </a:prstGeom>
          <a:noFill/>
        </p:spPr>
        <p:txBody>
          <a:bodyPr wrap="square" lIns="0" tIns="0" rIns="0" bIns="0" anchor="t">
            <a:spAutoFit/>
          </a:bodyPr>
          <a:lstStyle/>
          <a:p>
            <a:pPr algn="l">
              <a:spcAft>
                <a:spcPts val="600"/>
              </a:spcAft>
            </a:pPr>
            <a:r>
              <a:rPr sz="3400" b="1" i="0">
                <a:solidFill>
                  <a:srgbClr val="C00000"/>
                </a:solidFill>
                <a:latin typeface="Lato" panose="020F0502020204030203" pitchFamily="34" charset="0"/>
                <a:ea typeface="Lato" panose="020F0502020204030203" pitchFamily="34" charset="0"/>
                <a:cs typeface="Lato" panose="020F0502020204030203" pitchFamily="34" charset="0"/>
              </a:rPr>
              <a:t>65 s</a:t>
            </a:r>
          </a:p>
        </p:txBody>
      </p:sp>
      <p:sp>
        <p:nvSpPr>
          <p:cNvPr id="11" name="TextBox 10"/>
          <p:cNvSpPr txBox="1"/>
          <p:nvPr/>
        </p:nvSpPr>
        <p:spPr>
          <a:xfrm>
            <a:off x="685800" y="3611880"/>
            <a:ext cx="3566160" cy="400110"/>
          </a:xfrm>
          <a:prstGeom prst="rect">
            <a:avLst/>
          </a:prstGeom>
          <a:noFill/>
        </p:spPr>
        <p:txBody>
          <a:bodyPr wrap="square" lIns="0" tIns="0" rIns="0" bIns="0" anchor="t">
            <a:spAutoFit/>
          </a:bodyPr>
          <a:lstStyle/>
          <a:p>
            <a:pPr algn="l">
              <a:spcAft>
                <a:spcPts val="0"/>
              </a:spcAft>
            </a:pPr>
            <a:r>
              <a:rPr sz="1300" b="0" i="0">
                <a:solidFill>
                  <a:srgbClr val="595959"/>
                </a:solidFill>
                <a:latin typeface="Lato" panose="020F0502020204030203" pitchFamily="34" charset="0"/>
                <a:ea typeface="Lato" panose="020F0502020204030203" pitchFamily="34" charset="0"/>
                <a:cs typeface="Lato" panose="020F0502020204030203" pitchFamily="34" charset="0"/>
              </a:rPr>
              <a:t>tổng CPU proposed</a:t>
            </a:r>
          </a:p>
          <a:p>
            <a:pPr algn="l">
              <a:spcAft>
                <a:spcPts val="0"/>
              </a:spcAft>
            </a:pPr>
            <a:r>
              <a:rPr sz="1300" b="0" i="0">
                <a:solidFill>
                  <a:srgbClr val="595959"/>
                </a:solidFill>
                <a:latin typeface="Lato" panose="020F0502020204030203" pitchFamily="34" charset="0"/>
                <a:ea typeface="Lato" panose="020F0502020204030203" pitchFamily="34" charset="0"/>
                <a:cs typeface="Lato" panose="020F0502020204030203" pitchFamily="34" charset="0"/>
              </a:rPr>
              <a:t>cho 1400 lần giải</a:t>
            </a:r>
          </a:p>
        </p:txBody>
      </p:sp>
      <p:sp>
        <p:nvSpPr>
          <p:cNvPr id="12" name="Rounded Rectangle 11"/>
          <p:cNvSpPr/>
          <p:nvPr/>
        </p:nvSpPr>
        <p:spPr>
          <a:xfrm>
            <a:off x="4663440" y="2743200"/>
            <a:ext cx="4023360" cy="155448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3" name="TextBox 12"/>
          <p:cNvSpPr txBox="1"/>
          <p:nvPr/>
        </p:nvSpPr>
        <p:spPr>
          <a:xfrm>
            <a:off x="4892040" y="2880360"/>
            <a:ext cx="3566160" cy="523220"/>
          </a:xfrm>
          <a:prstGeom prst="rect">
            <a:avLst/>
          </a:prstGeom>
          <a:noFill/>
        </p:spPr>
        <p:txBody>
          <a:bodyPr wrap="square" lIns="0" tIns="0" rIns="0" bIns="0" anchor="t">
            <a:spAutoFit/>
          </a:bodyPr>
          <a:lstStyle/>
          <a:p>
            <a:pPr algn="l">
              <a:spcAft>
                <a:spcPts val="600"/>
              </a:spcAft>
            </a:pPr>
            <a:r>
              <a:rPr sz="3400" b="1" i="0">
                <a:solidFill>
                  <a:srgbClr val="262626"/>
                </a:solidFill>
                <a:latin typeface="Lato" panose="020F0502020204030203" pitchFamily="34" charset="0"/>
                <a:ea typeface="Lato" panose="020F0502020204030203" pitchFamily="34" charset="0"/>
                <a:cs typeface="Lato" panose="020F0502020204030203" pitchFamily="34" charset="0"/>
              </a:rPr>
              <a:t>16,7 giờ</a:t>
            </a:r>
          </a:p>
        </p:txBody>
      </p:sp>
      <p:sp>
        <p:nvSpPr>
          <p:cNvPr id="14" name="TextBox 13"/>
          <p:cNvSpPr txBox="1"/>
          <p:nvPr/>
        </p:nvSpPr>
        <p:spPr>
          <a:xfrm>
            <a:off x="4892040" y="3611880"/>
            <a:ext cx="3566160" cy="400110"/>
          </a:xfrm>
          <a:prstGeom prst="rect">
            <a:avLst/>
          </a:prstGeom>
          <a:noFill/>
        </p:spPr>
        <p:txBody>
          <a:bodyPr wrap="square" lIns="0" tIns="0" rIns="0" bIns="0" anchor="t">
            <a:spAutoFit/>
          </a:bodyPr>
          <a:lstStyle/>
          <a:p>
            <a:pPr algn="l">
              <a:spcAft>
                <a:spcPts val="0"/>
              </a:spcAft>
            </a:pPr>
            <a:r>
              <a:rPr sz="1300" b="0" i="0">
                <a:solidFill>
                  <a:srgbClr val="595959"/>
                </a:solidFill>
                <a:latin typeface="Lato" panose="020F0502020204030203" pitchFamily="34" charset="0"/>
                <a:ea typeface="Lato" panose="020F0502020204030203" pitchFamily="34" charset="0"/>
                <a:cs typeface="Lato" panose="020F0502020204030203" pitchFamily="34" charset="0"/>
              </a:rPr>
              <a:t>tổng CPU ILP</a:t>
            </a:r>
          </a:p>
          <a:p>
            <a:pPr algn="l">
              <a:spcAft>
                <a:spcPts val="0"/>
              </a:spcAft>
            </a:pPr>
            <a:r>
              <a:rPr sz="1300" b="0" i="0">
                <a:solidFill>
                  <a:srgbClr val="595959"/>
                </a:solidFill>
                <a:latin typeface="Lato" panose="020F0502020204030203" pitchFamily="34" charset="0"/>
                <a:ea typeface="Lato" panose="020F0502020204030203" pitchFamily="34" charset="0"/>
                <a:cs typeface="Lato" panose="020F0502020204030203" pitchFamily="34" charset="0"/>
              </a:rPr>
              <a:t>cho 1400 lần giải</a:t>
            </a:r>
          </a:p>
        </p:txBody>
      </p:sp>
      <p:sp>
        <p:nvSpPr>
          <p:cNvPr id="15" name="Rounded Rectangle 14"/>
          <p:cNvSpPr/>
          <p:nvPr/>
        </p:nvSpPr>
        <p:spPr>
          <a:xfrm>
            <a:off x="457200" y="4572000"/>
            <a:ext cx="8229600" cy="1234440"/>
          </a:xfrm>
          <a:prstGeom prst="roundRect">
            <a:avLst>
              <a:gd name="adj" fmla="val 6000"/>
            </a:avLst>
          </a:prstGeom>
          <a:solidFill>
            <a:srgbClr val="F6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6" name="TextBox 15"/>
          <p:cNvSpPr txBox="1"/>
          <p:nvPr/>
        </p:nvSpPr>
        <p:spPr>
          <a:xfrm>
            <a:off x="685800" y="4663440"/>
            <a:ext cx="7772400" cy="230832"/>
          </a:xfrm>
          <a:prstGeom prst="rect">
            <a:avLst/>
          </a:prstGeom>
          <a:noFill/>
        </p:spPr>
        <p:txBody>
          <a:bodyPr wrap="square" lIns="0" tIns="0" rIns="0" bIns="0" anchor="t">
            <a:spAutoFit/>
          </a:bodyPr>
          <a:lstStyle/>
          <a:p>
            <a:pPr algn="l">
              <a:spcAft>
                <a:spcPts val="600"/>
              </a:spcAft>
            </a:pPr>
            <a:r>
              <a:rPr sz="1500" b="1" i="0">
                <a:solidFill>
                  <a:srgbClr val="C00000"/>
                </a:solidFill>
                <a:latin typeface="Lato" panose="020F0502020204030203" pitchFamily="34" charset="0"/>
                <a:ea typeface="Lato" panose="020F0502020204030203" pitchFamily="34" charset="0"/>
                <a:cs typeface="Lato" panose="020F0502020204030203" pitchFamily="34" charset="0"/>
              </a:rPr>
              <a:t>ILP không phải lúc nào cũng tối ưu</a:t>
            </a:r>
          </a:p>
        </p:txBody>
      </p:sp>
      <p:sp>
        <p:nvSpPr>
          <p:cNvPr id="17" name="TextBox 16"/>
          <p:cNvSpPr txBox="1"/>
          <p:nvPr/>
        </p:nvSpPr>
        <p:spPr>
          <a:xfrm>
            <a:off x="685800" y="5010912"/>
            <a:ext cx="7772400" cy="400110"/>
          </a:xfrm>
          <a:prstGeom prst="rect">
            <a:avLst/>
          </a:prstGeom>
          <a:noFill/>
        </p:spPr>
        <p:txBody>
          <a:bodyPr wrap="square" lIns="0" tIns="0" rIns="0" bIns="0" anchor="t">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393/1400 ca (28%) chỉ có nghiệm tốt nhất tìm được sau 120 s, tập trung ở ảnh lớn và mức pin cao. Ở các ca này heuristic có thể vượt ILP (proposed: 38 lần, lớn nhất 1,039).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Độ nhạy: kết luận không đổi</a:t>
            </a:r>
          </a:p>
        </p:txBody>
      </p:sp>
      <p:sp>
        <p:nvSpPr>
          <p:cNvPr id="11"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15</a:t>
            </a:fld>
            <a:endParaRPr lang="en-US" dirty="0"/>
          </a:p>
        </p:txBody>
      </p:sp>
      <p:graphicFrame>
        <p:nvGraphicFramePr>
          <p:cNvPr id="3" name="Table 2"/>
          <p:cNvGraphicFramePr>
            <a:graphicFrameLocks noGrp="1"/>
          </p:cNvGraphicFramePr>
          <p:nvPr/>
        </p:nvGraphicFramePr>
        <p:xfrm>
          <a:off x="457200" y="1005840"/>
          <a:ext cx="8229600" cy="2743200"/>
        </p:xfrm>
        <a:graphic>
          <a:graphicData uri="http://schemas.openxmlformats.org/drawingml/2006/table">
            <a:tbl>
              <a:tblPr firstRow="1">
                <a:tableStyleId>{5940675A-B579-460E-94D1-54222C63F5DA}</a:tableStyleId>
              </a:tblPr>
              <a:tblGrid>
                <a:gridCol w="25603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457200">
                <a:tc>
                  <a:txBody>
                    <a:bodyPr/>
                    <a:lstStyle/>
                    <a:p>
                      <a:pPr algn="l"/>
                      <a:r>
                        <a:rPr sz="1300" b="1">
                          <a:solidFill>
                            <a:srgbClr val="FFFFFF"/>
                          </a:solidFill>
                          <a:latin typeface="Calibri"/>
                        </a:rPr>
                        <a:t>Cấu hình (30 ảnh)</a:t>
                      </a:r>
                    </a:p>
                  </a:txBody>
                  <a:tcPr marL="54864" marR="54864" marT="27432" marB="27432" anchor="ctr">
                    <a:solidFill>
                      <a:srgbClr val="C00000"/>
                    </a:solidFill>
                  </a:tcPr>
                </a:tc>
                <a:tc>
                  <a:txBody>
                    <a:bodyPr/>
                    <a:lstStyle/>
                    <a:p>
                      <a:pPr algn="ctr"/>
                      <a:r>
                        <a:rPr sz="1300" b="1">
                          <a:solidFill>
                            <a:srgbClr val="FFFFFF"/>
                          </a:solidFill>
                          <a:latin typeface="Calibri"/>
                        </a:rPr>
                        <a:t>25%</a:t>
                      </a:r>
                    </a:p>
                  </a:txBody>
                  <a:tcPr marL="54864" marR="54864" marT="27432" marB="27432" anchor="ctr">
                    <a:solidFill>
                      <a:srgbClr val="C00000"/>
                    </a:solidFill>
                  </a:tcPr>
                </a:tc>
                <a:tc>
                  <a:txBody>
                    <a:bodyPr/>
                    <a:lstStyle/>
                    <a:p>
                      <a:pPr algn="ctr"/>
                      <a:r>
                        <a:rPr sz="1300" b="1">
                          <a:solidFill>
                            <a:srgbClr val="FFFFFF"/>
                          </a:solidFill>
                          <a:latin typeface="Calibri"/>
                        </a:rPr>
                        <a:t>50%</a:t>
                      </a:r>
                    </a:p>
                  </a:txBody>
                  <a:tcPr marL="54864" marR="54864" marT="27432" marB="27432" anchor="ctr">
                    <a:solidFill>
                      <a:srgbClr val="C00000"/>
                    </a:solidFill>
                  </a:tcPr>
                </a:tc>
                <a:tc>
                  <a:txBody>
                    <a:bodyPr/>
                    <a:lstStyle/>
                    <a:p>
                      <a:pPr algn="ctr"/>
                      <a:r>
                        <a:rPr sz="1300" b="1">
                          <a:solidFill>
                            <a:srgbClr val="FFFFFF"/>
                          </a:solidFill>
                          <a:latin typeface="Calibri"/>
                        </a:rPr>
                        <a:t>75%</a:t>
                      </a:r>
                    </a:p>
                  </a:txBody>
                  <a:tcPr marL="54864" marR="54864" marT="27432" marB="27432" anchor="ctr">
                    <a:solidFill>
                      <a:srgbClr val="C00000"/>
                    </a:solidFill>
                  </a:tcPr>
                </a:tc>
                <a:tc>
                  <a:txBody>
                    <a:bodyPr/>
                    <a:lstStyle/>
                    <a:p>
                      <a:pPr algn="ctr"/>
                      <a:r>
                        <a:rPr sz="1300" b="1">
                          <a:solidFill>
                            <a:srgbClr val="FFFFFF"/>
                          </a:solidFill>
                          <a:latin typeface="Calibri"/>
                        </a:rPr>
                        <a:t>100%</a:t>
                      </a:r>
                    </a:p>
                  </a:txBody>
                  <a:tcPr marL="54864" marR="54864" marT="27432" marB="27432" anchor="ctr">
                    <a:solidFill>
                      <a:srgbClr val="C00000"/>
                    </a:solidFill>
                  </a:tcPr>
                </a:tc>
                <a:extLst>
                  <a:ext uri="{0D108BD9-81ED-4DB2-BD59-A6C34878D82A}">
                    <a16:rowId xmlns:a16="http://schemas.microsoft.com/office/drawing/2014/main" val="10000"/>
                  </a:ext>
                </a:extLst>
              </a:tr>
              <a:tr h="457200">
                <a:tc>
                  <a:txBody>
                    <a:bodyPr/>
                    <a:lstStyle/>
                    <a:p>
                      <a:pPr algn="l"/>
                      <a:r>
                        <a:rPr sz="1300" b="0">
                          <a:solidFill>
                            <a:srgbClr val="262626"/>
                          </a:solidFill>
                          <a:latin typeface="Calibri"/>
                        </a:rPr>
                        <a:t>Mặc định (lưới 20, Tree = 0)</a:t>
                      </a:r>
                    </a:p>
                  </a:txBody>
                  <a:tcPr marL="54864" marR="54864" marT="27432" marB="27432" anchor="ctr">
                    <a:solidFill>
                      <a:srgbClr val="FFFFFF"/>
                    </a:solidFill>
                  </a:tcPr>
                </a:tc>
                <a:tc>
                  <a:txBody>
                    <a:bodyPr/>
                    <a:lstStyle/>
                    <a:p>
                      <a:pPr algn="ctr"/>
                      <a:r>
                        <a:rPr sz="1300" b="0">
                          <a:solidFill>
                            <a:srgbClr val="262626"/>
                          </a:solidFill>
                          <a:latin typeface="Calibri"/>
                        </a:rPr>
                        <a:t>98,7 / 93,8</a:t>
                      </a:r>
                    </a:p>
                  </a:txBody>
                  <a:tcPr marL="54864" marR="54864" marT="27432" marB="27432" anchor="ctr">
                    <a:solidFill>
                      <a:srgbClr val="FFFFFF"/>
                    </a:solidFill>
                  </a:tcPr>
                </a:tc>
                <a:tc>
                  <a:txBody>
                    <a:bodyPr/>
                    <a:lstStyle/>
                    <a:p>
                      <a:pPr algn="ctr"/>
                      <a:r>
                        <a:rPr sz="1300" b="0">
                          <a:solidFill>
                            <a:srgbClr val="262626"/>
                          </a:solidFill>
                          <a:latin typeface="Calibri"/>
                        </a:rPr>
                        <a:t>97,4 / 89,8</a:t>
                      </a:r>
                    </a:p>
                  </a:txBody>
                  <a:tcPr marL="54864" marR="54864" marT="27432" marB="27432" anchor="ctr">
                    <a:solidFill>
                      <a:srgbClr val="FFFFFF"/>
                    </a:solidFill>
                  </a:tcPr>
                </a:tc>
                <a:tc>
                  <a:txBody>
                    <a:bodyPr/>
                    <a:lstStyle/>
                    <a:p>
                      <a:pPr algn="ctr"/>
                      <a:r>
                        <a:rPr sz="1300" b="0">
                          <a:solidFill>
                            <a:srgbClr val="262626"/>
                          </a:solidFill>
                          <a:latin typeface="Calibri"/>
                        </a:rPr>
                        <a:t>96,9 / 90,9</a:t>
                      </a:r>
                    </a:p>
                  </a:txBody>
                  <a:tcPr marL="54864" marR="54864" marT="27432" marB="27432" anchor="ctr">
                    <a:solidFill>
                      <a:srgbClr val="FFFFFF"/>
                    </a:solidFill>
                  </a:tcPr>
                </a:tc>
                <a:tc>
                  <a:txBody>
                    <a:bodyPr/>
                    <a:lstStyle/>
                    <a:p>
                      <a:pPr algn="ctr"/>
                      <a:r>
                        <a:rPr sz="1300" b="0">
                          <a:solidFill>
                            <a:srgbClr val="262626"/>
                          </a:solidFill>
                          <a:latin typeface="Calibri"/>
                        </a:rPr>
                        <a:t>98,0 / 92,2</a:t>
                      </a:r>
                    </a:p>
                  </a:txBody>
                  <a:tcPr marL="54864" marR="54864" marT="27432" marB="27432" anchor="ctr">
                    <a:solidFill>
                      <a:srgbClr val="FFFFFF"/>
                    </a:solidFill>
                  </a:tcPr>
                </a:tc>
                <a:extLst>
                  <a:ext uri="{0D108BD9-81ED-4DB2-BD59-A6C34878D82A}">
                    <a16:rowId xmlns:a16="http://schemas.microsoft.com/office/drawing/2014/main" val="10001"/>
                  </a:ext>
                </a:extLst>
              </a:tr>
              <a:tr h="457200">
                <a:tc>
                  <a:txBody>
                    <a:bodyPr/>
                    <a:lstStyle/>
                    <a:p>
                      <a:pPr algn="l"/>
                      <a:r>
                        <a:rPr sz="1300" b="0">
                          <a:solidFill>
                            <a:srgbClr val="262626"/>
                          </a:solidFill>
                          <a:latin typeface="Calibri"/>
                        </a:rPr>
                        <a:t>Tree = 1</a:t>
                      </a:r>
                    </a:p>
                  </a:txBody>
                  <a:tcPr marL="54864" marR="54864" marT="27432" marB="27432" anchor="ctr">
                    <a:solidFill>
                      <a:srgbClr val="F4F1F1"/>
                    </a:solidFill>
                  </a:tcPr>
                </a:tc>
                <a:tc>
                  <a:txBody>
                    <a:bodyPr/>
                    <a:lstStyle/>
                    <a:p>
                      <a:pPr algn="ctr"/>
                      <a:r>
                        <a:rPr sz="1300" b="0">
                          <a:solidFill>
                            <a:srgbClr val="262626"/>
                          </a:solidFill>
                          <a:latin typeface="Calibri"/>
                        </a:rPr>
                        <a:t>98,0 / 93,0</a:t>
                      </a:r>
                    </a:p>
                  </a:txBody>
                  <a:tcPr marL="54864" marR="54864" marT="27432" marB="27432" anchor="ctr">
                    <a:solidFill>
                      <a:srgbClr val="F4F1F1"/>
                    </a:solidFill>
                  </a:tcPr>
                </a:tc>
                <a:tc>
                  <a:txBody>
                    <a:bodyPr/>
                    <a:lstStyle/>
                    <a:p>
                      <a:pPr algn="ctr"/>
                      <a:r>
                        <a:rPr sz="1300" b="0">
                          <a:solidFill>
                            <a:srgbClr val="262626"/>
                          </a:solidFill>
                          <a:latin typeface="Calibri"/>
                        </a:rPr>
                        <a:t>97,3 / 92,5</a:t>
                      </a:r>
                    </a:p>
                  </a:txBody>
                  <a:tcPr marL="54864" marR="54864" marT="27432" marB="27432" anchor="ctr">
                    <a:solidFill>
                      <a:srgbClr val="F4F1F1"/>
                    </a:solidFill>
                  </a:tcPr>
                </a:tc>
                <a:tc>
                  <a:txBody>
                    <a:bodyPr/>
                    <a:lstStyle/>
                    <a:p>
                      <a:pPr algn="ctr"/>
                      <a:r>
                        <a:rPr sz="1300" b="0">
                          <a:solidFill>
                            <a:srgbClr val="262626"/>
                          </a:solidFill>
                          <a:latin typeface="Calibri"/>
                        </a:rPr>
                        <a:t>97,6 / 93,4</a:t>
                      </a:r>
                    </a:p>
                  </a:txBody>
                  <a:tcPr marL="54864" marR="54864" marT="27432" marB="27432" anchor="ctr">
                    <a:solidFill>
                      <a:srgbClr val="F4F1F1"/>
                    </a:solidFill>
                  </a:tcPr>
                </a:tc>
                <a:tc>
                  <a:txBody>
                    <a:bodyPr/>
                    <a:lstStyle/>
                    <a:p>
                      <a:pPr algn="ctr"/>
                      <a:r>
                        <a:rPr sz="1300" b="0">
                          <a:solidFill>
                            <a:srgbClr val="262626"/>
                          </a:solidFill>
                          <a:latin typeface="Calibri"/>
                        </a:rPr>
                        <a:t>98,9 / 95,5</a:t>
                      </a:r>
                    </a:p>
                  </a:txBody>
                  <a:tcPr marL="54864" marR="54864" marT="27432" marB="27432" anchor="ctr">
                    <a:solidFill>
                      <a:srgbClr val="F4F1F1"/>
                    </a:solidFill>
                  </a:tcPr>
                </a:tc>
                <a:extLst>
                  <a:ext uri="{0D108BD9-81ED-4DB2-BD59-A6C34878D82A}">
                    <a16:rowId xmlns:a16="http://schemas.microsoft.com/office/drawing/2014/main" val="10002"/>
                  </a:ext>
                </a:extLst>
              </a:tr>
              <a:tr h="457200">
                <a:tc>
                  <a:txBody>
                    <a:bodyPr/>
                    <a:lstStyle/>
                    <a:p>
                      <a:pPr algn="l"/>
                      <a:r>
                        <a:rPr sz="1300" b="0">
                          <a:solidFill>
                            <a:srgbClr val="262626"/>
                          </a:solidFill>
                          <a:latin typeface="Calibri"/>
                        </a:rPr>
                        <a:t>Thang lồi 1/4/9</a:t>
                      </a:r>
                    </a:p>
                  </a:txBody>
                  <a:tcPr marL="54864" marR="54864" marT="27432" marB="27432" anchor="ctr">
                    <a:solidFill>
                      <a:srgbClr val="FFFFFF"/>
                    </a:solidFill>
                  </a:tcPr>
                </a:tc>
                <a:tc>
                  <a:txBody>
                    <a:bodyPr/>
                    <a:lstStyle/>
                    <a:p>
                      <a:pPr algn="ctr"/>
                      <a:r>
                        <a:rPr sz="1300" b="0">
                          <a:solidFill>
                            <a:srgbClr val="262626"/>
                          </a:solidFill>
                          <a:latin typeface="Calibri"/>
                        </a:rPr>
                        <a:t>98,5 / 93,7</a:t>
                      </a:r>
                    </a:p>
                  </a:txBody>
                  <a:tcPr marL="54864" marR="54864" marT="27432" marB="27432" anchor="ctr">
                    <a:solidFill>
                      <a:srgbClr val="FFFFFF"/>
                    </a:solidFill>
                  </a:tcPr>
                </a:tc>
                <a:tc>
                  <a:txBody>
                    <a:bodyPr/>
                    <a:lstStyle/>
                    <a:p>
                      <a:pPr algn="ctr"/>
                      <a:r>
                        <a:rPr sz="1300" b="0">
                          <a:solidFill>
                            <a:srgbClr val="262626"/>
                          </a:solidFill>
                          <a:latin typeface="Calibri"/>
                        </a:rPr>
                        <a:t>98,3 / 90,7</a:t>
                      </a:r>
                    </a:p>
                  </a:txBody>
                  <a:tcPr marL="54864" marR="54864" marT="27432" marB="27432" anchor="ctr">
                    <a:solidFill>
                      <a:srgbClr val="FFFFFF"/>
                    </a:solidFill>
                  </a:tcPr>
                </a:tc>
                <a:tc>
                  <a:txBody>
                    <a:bodyPr/>
                    <a:lstStyle/>
                    <a:p>
                      <a:pPr algn="ctr"/>
                      <a:r>
                        <a:rPr sz="1300" b="0">
                          <a:solidFill>
                            <a:srgbClr val="262626"/>
                          </a:solidFill>
                          <a:latin typeface="Calibri"/>
                        </a:rPr>
                        <a:t>97,4 / 91,9</a:t>
                      </a:r>
                    </a:p>
                  </a:txBody>
                  <a:tcPr marL="54864" marR="54864" marT="27432" marB="27432" anchor="ctr">
                    <a:solidFill>
                      <a:srgbClr val="FFFFFF"/>
                    </a:solidFill>
                  </a:tcPr>
                </a:tc>
                <a:tc>
                  <a:txBody>
                    <a:bodyPr/>
                    <a:lstStyle/>
                    <a:p>
                      <a:pPr algn="ctr"/>
                      <a:r>
                        <a:rPr sz="1300" b="0">
                          <a:solidFill>
                            <a:srgbClr val="262626"/>
                          </a:solidFill>
                          <a:latin typeface="Calibri"/>
                        </a:rPr>
                        <a:t>98,2 / 93,0</a:t>
                      </a:r>
                    </a:p>
                  </a:txBody>
                  <a:tcPr marL="54864" marR="54864" marT="27432" marB="27432" anchor="ctr">
                    <a:solidFill>
                      <a:srgbClr val="FFFFFF"/>
                    </a:solidFill>
                  </a:tcPr>
                </a:tc>
                <a:extLst>
                  <a:ext uri="{0D108BD9-81ED-4DB2-BD59-A6C34878D82A}">
                    <a16:rowId xmlns:a16="http://schemas.microsoft.com/office/drawing/2014/main" val="10003"/>
                  </a:ext>
                </a:extLst>
              </a:tr>
              <a:tr h="457200">
                <a:tc>
                  <a:txBody>
                    <a:bodyPr/>
                    <a:lstStyle/>
                    <a:p>
                      <a:pPr algn="l"/>
                      <a:r>
                        <a:rPr sz="1300" b="0">
                          <a:solidFill>
                            <a:srgbClr val="262626"/>
                          </a:solidFill>
                          <a:latin typeface="Calibri"/>
                        </a:rPr>
                        <a:t>Chỉ nhãn hư hại</a:t>
                      </a:r>
                    </a:p>
                  </a:txBody>
                  <a:tcPr marL="54864" marR="54864" marT="27432" marB="27432" anchor="ctr">
                    <a:solidFill>
                      <a:srgbClr val="F4F1F1"/>
                    </a:solidFill>
                  </a:tcPr>
                </a:tc>
                <a:tc>
                  <a:txBody>
                    <a:bodyPr/>
                    <a:lstStyle/>
                    <a:p>
                      <a:pPr algn="ctr"/>
                      <a:r>
                        <a:rPr sz="1300" b="0">
                          <a:solidFill>
                            <a:srgbClr val="262626"/>
                          </a:solidFill>
                          <a:latin typeface="Calibri"/>
                        </a:rPr>
                        <a:t>99,8 / 97,7</a:t>
                      </a:r>
                    </a:p>
                  </a:txBody>
                  <a:tcPr marL="54864" marR="54864" marT="27432" marB="27432" anchor="ctr">
                    <a:solidFill>
                      <a:srgbClr val="F4F1F1"/>
                    </a:solidFill>
                  </a:tcPr>
                </a:tc>
                <a:tc>
                  <a:txBody>
                    <a:bodyPr/>
                    <a:lstStyle/>
                    <a:p>
                      <a:pPr algn="ctr"/>
                      <a:r>
                        <a:rPr sz="1300" b="0">
                          <a:solidFill>
                            <a:srgbClr val="262626"/>
                          </a:solidFill>
                          <a:latin typeface="Calibri"/>
                        </a:rPr>
                        <a:t>98,7 / 93,9</a:t>
                      </a:r>
                    </a:p>
                  </a:txBody>
                  <a:tcPr marL="54864" marR="54864" marT="27432" marB="27432" anchor="ctr">
                    <a:solidFill>
                      <a:srgbClr val="F4F1F1"/>
                    </a:solidFill>
                  </a:tcPr>
                </a:tc>
                <a:tc>
                  <a:txBody>
                    <a:bodyPr/>
                    <a:lstStyle/>
                    <a:p>
                      <a:pPr algn="ctr"/>
                      <a:r>
                        <a:rPr sz="1300" b="0">
                          <a:solidFill>
                            <a:srgbClr val="262626"/>
                          </a:solidFill>
                          <a:latin typeface="Calibri"/>
                        </a:rPr>
                        <a:t>97,7 / 90,5</a:t>
                      </a:r>
                    </a:p>
                  </a:txBody>
                  <a:tcPr marL="54864" marR="54864" marT="27432" marB="27432" anchor="ctr">
                    <a:solidFill>
                      <a:srgbClr val="F4F1F1"/>
                    </a:solidFill>
                  </a:tcPr>
                </a:tc>
                <a:tc>
                  <a:txBody>
                    <a:bodyPr/>
                    <a:lstStyle/>
                    <a:p>
                      <a:pPr algn="ctr"/>
                      <a:r>
                        <a:rPr sz="1300" b="0">
                          <a:solidFill>
                            <a:srgbClr val="262626"/>
                          </a:solidFill>
                          <a:latin typeface="Calibri"/>
                        </a:rPr>
                        <a:t>98,3 / 92,3</a:t>
                      </a:r>
                    </a:p>
                  </a:txBody>
                  <a:tcPr marL="54864" marR="54864" marT="27432" marB="27432" anchor="ctr">
                    <a:solidFill>
                      <a:srgbClr val="F4F1F1"/>
                    </a:solidFill>
                  </a:tcPr>
                </a:tc>
                <a:extLst>
                  <a:ext uri="{0D108BD9-81ED-4DB2-BD59-A6C34878D82A}">
                    <a16:rowId xmlns:a16="http://schemas.microsoft.com/office/drawing/2014/main" val="10004"/>
                  </a:ext>
                </a:extLst>
              </a:tr>
              <a:tr h="457200">
                <a:tc>
                  <a:txBody>
                    <a:bodyPr/>
                    <a:lstStyle/>
                    <a:p>
                      <a:pPr algn="l"/>
                      <a:r>
                        <a:rPr sz="1300" b="0">
                          <a:solidFill>
                            <a:srgbClr val="262626"/>
                          </a:solidFill>
                          <a:latin typeface="Calibri"/>
                        </a:rPr>
                        <a:t>Lưới 10×10</a:t>
                      </a:r>
                    </a:p>
                  </a:txBody>
                  <a:tcPr marL="54864" marR="54864" marT="27432" marB="27432" anchor="ctr">
                    <a:solidFill>
                      <a:srgbClr val="FFFFFF"/>
                    </a:solidFill>
                  </a:tcPr>
                </a:tc>
                <a:tc>
                  <a:txBody>
                    <a:bodyPr/>
                    <a:lstStyle/>
                    <a:p>
                      <a:pPr algn="ctr"/>
                      <a:r>
                        <a:rPr sz="1300" b="1">
                          <a:solidFill>
                            <a:srgbClr val="C00000"/>
                          </a:solidFill>
                          <a:latin typeface="Calibri"/>
                        </a:rPr>
                        <a:t>100 / 99,9</a:t>
                      </a:r>
                    </a:p>
                  </a:txBody>
                  <a:tcPr marL="54864" marR="54864" marT="27432" marB="27432" anchor="ctr">
                    <a:solidFill>
                      <a:srgbClr val="FFFFFF"/>
                    </a:solidFill>
                  </a:tcPr>
                </a:tc>
                <a:tc>
                  <a:txBody>
                    <a:bodyPr/>
                    <a:lstStyle/>
                    <a:p>
                      <a:pPr algn="ctr"/>
                      <a:r>
                        <a:rPr sz="1300" b="0">
                          <a:solidFill>
                            <a:srgbClr val="262626"/>
                          </a:solidFill>
                          <a:latin typeface="Calibri"/>
                        </a:rPr>
                        <a:t>98,9 / 94,8</a:t>
                      </a:r>
                    </a:p>
                  </a:txBody>
                  <a:tcPr marL="54864" marR="54864" marT="27432" marB="27432" anchor="ctr">
                    <a:solidFill>
                      <a:srgbClr val="FFFFFF"/>
                    </a:solidFill>
                  </a:tcPr>
                </a:tc>
                <a:tc>
                  <a:txBody>
                    <a:bodyPr/>
                    <a:lstStyle/>
                    <a:p>
                      <a:pPr algn="ctr"/>
                      <a:r>
                        <a:rPr sz="1300" b="0">
                          <a:solidFill>
                            <a:srgbClr val="262626"/>
                          </a:solidFill>
                          <a:latin typeface="Calibri"/>
                        </a:rPr>
                        <a:t>97,0 / 88,8</a:t>
                      </a:r>
                    </a:p>
                  </a:txBody>
                  <a:tcPr marL="54864" marR="54864" marT="27432" marB="27432" anchor="ctr">
                    <a:solidFill>
                      <a:srgbClr val="FFFFFF"/>
                    </a:solidFill>
                  </a:tcPr>
                </a:tc>
                <a:tc>
                  <a:txBody>
                    <a:bodyPr/>
                    <a:lstStyle/>
                    <a:p>
                      <a:pPr algn="ctr"/>
                      <a:r>
                        <a:rPr sz="1300" b="0">
                          <a:solidFill>
                            <a:srgbClr val="262626"/>
                          </a:solidFill>
                          <a:latin typeface="Calibri"/>
                        </a:rPr>
                        <a:t>97,8 / 86,3</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457200" y="3840480"/>
            <a:ext cx="8229600" cy="169277"/>
          </a:xfrm>
          <a:prstGeom prst="rect">
            <a:avLst/>
          </a:prstGeom>
          <a:noFill/>
        </p:spPr>
        <p:txBody>
          <a:bodyPr wrap="square" lIns="0" tIns="0" rIns="0" bIns="0" anchor="t">
            <a:spAutoFit/>
          </a:bodyPr>
          <a:lstStyle/>
          <a:p>
            <a:pPr algn="l">
              <a:spcAft>
                <a:spcPts val="600"/>
              </a:spcAft>
            </a:pPr>
            <a:r>
              <a:rPr sz="1100" b="0" i="0">
                <a:solidFill>
                  <a:srgbClr val="595959"/>
                </a:solidFill>
                <a:latin typeface="Lato" panose="020F0502020204030203" pitchFamily="34" charset="0"/>
                <a:ea typeface="Lato" panose="020F0502020204030203" pitchFamily="34" charset="0"/>
                <a:cs typeface="Lato" panose="020F0502020204030203" pitchFamily="34" charset="0"/>
              </a:rPr>
              <a:t>Ô ghi proposed / naive, tỉ lệ trung bình so với ILP (%).</a:t>
            </a:r>
          </a:p>
        </p:txBody>
      </p:sp>
      <p:sp>
        <p:nvSpPr>
          <p:cNvPr id="5" name="Rounded Rectangle 4"/>
          <p:cNvSpPr/>
          <p:nvPr/>
        </p:nvSpPr>
        <p:spPr>
          <a:xfrm>
            <a:off x="457200" y="4343400"/>
            <a:ext cx="4023360" cy="146304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6" name="TextBox 5"/>
          <p:cNvSpPr txBox="1"/>
          <p:nvPr/>
        </p:nvSpPr>
        <p:spPr>
          <a:xfrm>
            <a:off x="640080" y="4434840"/>
            <a:ext cx="3657600" cy="230832"/>
          </a:xfrm>
          <a:prstGeom prst="rect">
            <a:avLst/>
          </a:prstGeom>
          <a:noFill/>
        </p:spPr>
        <p:txBody>
          <a:bodyPr wrap="square" lIns="0" tIns="0" rIns="0" bIns="0" anchor="t">
            <a:spAutoFit/>
          </a:bodyPr>
          <a:lstStyle/>
          <a:p>
            <a:pPr algn="l">
              <a:spcAft>
                <a:spcPts val="600"/>
              </a:spcAft>
            </a:pPr>
            <a:r>
              <a:rPr sz="1500" b="1" i="0">
                <a:solidFill>
                  <a:srgbClr val="C00000"/>
                </a:solidFill>
                <a:latin typeface="Lato" panose="020F0502020204030203" pitchFamily="34" charset="0"/>
                <a:ea typeface="Lato" panose="020F0502020204030203" pitchFamily="34" charset="0"/>
                <a:cs typeface="Lato" panose="020F0502020204030203" pitchFamily="34" charset="0"/>
              </a:rPr>
              <a:t>Thứ tự không đổi</a:t>
            </a:r>
          </a:p>
        </p:txBody>
      </p:sp>
      <p:sp>
        <p:nvSpPr>
          <p:cNvPr id="7" name="TextBox 6"/>
          <p:cNvSpPr txBox="1"/>
          <p:nvPr/>
        </p:nvSpPr>
        <p:spPr>
          <a:xfrm>
            <a:off x="640080" y="4773168"/>
            <a:ext cx="3657600" cy="400110"/>
          </a:xfrm>
          <a:prstGeom prst="rect">
            <a:avLst/>
          </a:prstGeom>
          <a:noFill/>
        </p:spPr>
        <p:txBody>
          <a:bodyPr wrap="square" lIns="0" tIns="0" rIns="0" bIns="0" anchor="t">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Proposed ≥ naive ở cả 5 cấu hình và 4 mức pin. Kết luận không phụ thuộc chi tiết bảng điểm.</a:t>
            </a:r>
          </a:p>
        </p:txBody>
      </p:sp>
      <p:sp>
        <p:nvSpPr>
          <p:cNvPr id="8" name="Rounded Rectangle 7"/>
          <p:cNvSpPr/>
          <p:nvPr/>
        </p:nvSpPr>
        <p:spPr>
          <a:xfrm>
            <a:off x="4663440" y="4343400"/>
            <a:ext cx="4023360" cy="1463040"/>
          </a:xfrm>
          <a:prstGeom prst="roundRect">
            <a:avLst>
              <a:gd name="adj" fmla="val 6000"/>
            </a:avLst>
          </a:prstGeom>
          <a:solidFill>
            <a:srgbClr val="F6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9" name="TextBox 8"/>
          <p:cNvSpPr txBox="1"/>
          <p:nvPr/>
        </p:nvSpPr>
        <p:spPr>
          <a:xfrm>
            <a:off x="4846320" y="4434840"/>
            <a:ext cx="3657600" cy="230832"/>
          </a:xfrm>
          <a:prstGeom prst="rect">
            <a:avLst/>
          </a:prstGeom>
          <a:noFill/>
        </p:spPr>
        <p:txBody>
          <a:bodyPr wrap="square" lIns="0" tIns="0" rIns="0" bIns="0" anchor="t">
            <a:spAutoFit/>
          </a:bodyPr>
          <a:lstStyle/>
          <a:p>
            <a:pPr algn="l">
              <a:spcAft>
                <a:spcPts val="600"/>
              </a:spcAft>
            </a:pPr>
            <a:r>
              <a:rPr sz="1500" b="1" i="0">
                <a:solidFill>
                  <a:srgbClr val="C00000"/>
                </a:solidFill>
                <a:latin typeface="Lato" panose="020F0502020204030203" pitchFamily="34" charset="0"/>
                <a:ea typeface="Lato" panose="020F0502020204030203" pitchFamily="34" charset="0"/>
                <a:cs typeface="Lato" panose="020F0502020204030203" pitchFamily="34" charset="0"/>
              </a:rPr>
              <a:t>Ngoại lệ</a:t>
            </a:r>
          </a:p>
        </p:txBody>
      </p:sp>
      <p:sp>
        <p:nvSpPr>
          <p:cNvPr id="10" name="TextBox 9"/>
          <p:cNvSpPr txBox="1"/>
          <p:nvPr/>
        </p:nvSpPr>
        <p:spPr>
          <a:xfrm>
            <a:off x="4846320" y="4773168"/>
            <a:ext cx="3657600" cy="400110"/>
          </a:xfrm>
          <a:prstGeom prst="rect">
            <a:avLst/>
          </a:prstGeom>
          <a:noFill/>
        </p:spPr>
        <p:txBody>
          <a:bodyPr wrap="square" lIns="0" tIns="0" rIns="0" bIns="0" anchor="t">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Lưới 10×10 ở mức 25%: thắng / hòa / thua 1 / 19 / 0, p = 0,32, không khác biệt đáng kể.</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Giới hạn cần nói rõ</a:t>
            </a:r>
          </a:p>
        </p:txBody>
      </p:sp>
      <p:sp>
        <p:nvSpPr>
          <p:cNvPr id="23"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Rounded Rectangle 2"/>
          <p:cNvSpPr/>
          <p:nvPr/>
        </p:nvSpPr>
        <p:spPr>
          <a:xfrm>
            <a:off x="457200" y="1005840"/>
            <a:ext cx="8229600" cy="804672"/>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4" name="Oval 3"/>
          <p:cNvSpPr/>
          <p:nvPr/>
        </p:nvSpPr>
        <p:spPr>
          <a:xfrm>
            <a:off x="640080" y="1207008"/>
            <a:ext cx="402336" cy="402336"/>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a:t>
            </a:r>
          </a:p>
        </p:txBody>
      </p:sp>
      <p:sp>
        <p:nvSpPr>
          <p:cNvPr id="5" name="TextBox 4"/>
          <p:cNvSpPr txBox="1"/>
          <p:nvPr/>
        </p:nvSpPr>
        <p:spPr>
          <a:xfrm>
            <a:off x="1234440" y="1292760"/>
            <a:ext cx="2468880" cy="230832"/>
          </a:xfrm>
          <a:prstGeom prst="rect">
            <a:avLst/>
          </a:prstGeom>
          <a:noFill/>
        </p:spPr>
        <p:txBody>
          <a:bodyPr wrap="square" lIns="0" tIns="0" rIns="0" bIns="0" anchor="ctr">
            <a:spAutoFit/>
          </a:bodyPr>
          <a:lstStyle/>
          <a:p>
            <a:pPr algn="l">
              <a:spcAft>
                <a:spcPts val="600"/>
              </a:spcAft>
            </a:pPr>
            <a:r>
              <a:rPr sz="1500" b="1" i="0">
                <a:solidFill>
                  <a:srgbClr val="262626"/>
                </a:solidFill>
                <a:latin typeface="Lato" panose="020F0502020204030203" pitchFamily="34" charset="0"/>
                <a:ea typeface="Lato" panose="020F0502020204030203" pitchFamily="34" charset="0"/>
                <a:cs typeface="Lato" panose="020F0502020204030203" pitchFamily="34" charset="0"/>
              </a:rPr>
              <a:t>Instance tổng hợp</a:t>
            </a:r>
          </a:p>
        </p:txBody>
      </p:sp>
      <p:sp>
        <p:nvSpPr>
          <p:cNvPr id="6" name="TextBox 5"/>
          <p:cNvSpPr txBox="1"/>
          <p:nvPr/>
        </p:nvSpPr>
        <p:spPr>
          <a:xfrm>
            <a:off x="3703320" y="1208121"/>
            <a:ext cx="4846320" cy="400110"/>
          </a:xfrm>
          <a:prstGeom prst="rect">
            <a:avLst/>
          </a:prstGeom>
          <a:noFill/>
        </p:spPr>
        <p:txBody>
          <a:bodyPr wrap="square" lIns="0" tIns="0" rIns="0" bIns="0" anchor="ctr">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Route, pin, K = 4 do nhóm thiết kế; chỉ bản đồ rủi ro dựa trên nhãn thật.</a:t>
            </a:r>
          </a:p>
        </p:txBody>
      </p:sp>
      <p:sp>
        <p:nvSpPr>
          <p:cNvPr id="7" name="Rounded Rectangle 6"/>
          <p:cNvSpPr/>
          <p:nvPr/>
        </p:nvSpPr>
        <p:spPr>
          <a:xfrm>
            <a:off x="457200" y="1965960"/>
            <a:ext cx="8229600" cy="804672"/>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8" name="Oval 7"/>
          <p:cNvSpPr/>
          <p:nvPr/>
        </p:nvSpPr>
        <p:spPr>
          <a:xfrm>
            <a:off x="640080" y="2167128"/>
            <a:ext cx="402336" cy="402336"/>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a:t>
            </a:r>
          </a:p>
        </p:txBody>
      </p:sp>
      <p:sp>
        <p:nvSpPr>
          <p:cNvPr id="9" name="TextBox 8"/>
          <p:cNvSpPr txBox="1"/>
          <p:nvPr/>
        </p:nvSpPr>
        <p:spPr>
          <a:xfrm>
            <a:off x="1234440" y="2252880"/>
            <a:ext cx="2468880" cy="230832"/>
          </a:xfrm>
          <a:prstGeom prst="rect">
            <a:avLst/>
          </a:prstGeom>
          <a:noFill/>
        </p:spPr>
        <p:txBody>
          <a:bodyPr wrap="square" lIns="0" tIns="0" rIns="0" bIns="0" anchor="ctr">
            <a:spAutoFit/>
          </a:bodyPr>
          <a:lstStyle/>
          <a:p>
            <a:pPr algn="l">
              <a:spcAft>
                <a:spcPts val="600"/>
              </a:spcAft>
            </a:pPr>
            <a:r>
              <a:rPr sz="1500" b="1" i="0">
                <a:solidFill>
                  <a:srgbClr val="262626"/>
                </a:solidFill>
                <a:latin typeface="Lato" panose="020F0502020204030203" pitchFamily="34" charset="0"/>
                <a:ea typeface="Lato" panose="020F0502020204030203" pitchFamily="34" charset="0"/>
                <a:cs typeface="Lato" panose="020F0502020204030203" pitchFamily="34" charset="0"/>
              </a:rPr>
              <a:t>ILP chưa luôn tối ưu</a:t>
            </a:r>
          </a:p>
        </p:txBody>
      </p:sp>
      <p:sp>
        <p:nvSpPr>
          <p:cNvPr id="10" name="TextBox 9"/>
          <p:cNvSpPr txBox="1"/>
          <p:nvPr/>
        </p:nvSpPr>
        <p:spPr>
          <a:xfrm>
            <a:off x="3703320" y="2168241"/>
            <a:ext cx="4846320" cy="400110"/>
          </a:xfrm>
          <a:prstGeom prst="rect">
            <a:avLst/>
          </a:prstGeom>
          <a:noFill/>
        </p:spPr>
        <p:txBody>
          <a:bodyPr wrap="square" lIns="0" tIns="0" rIns="0" bIns="0" anchor="ctr">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28% ca chỉ là nghiệm tốt nhất tìm được; tỉ lệ ở các ca đó có thể &gt; 1.</a:t>
            </a:r>
          </a:p>
        </p:txBody>
      </p:sp>
      <p:sp>
        <p:nvSpPr>
          <p:cNvPr id="11" name="Rounded Rectangle 10"/>
          <p:cNvSpPr/>
          <p:nvPr/>
        </p:nvSpPr>
        <p:spPr>
          <a:xfrm>
            <a:off x="457200" y="2926080"/>
            <a:ext cx="8229600" cy="804672"/>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2" name="Oval 11"/>
          <p:cNvSpPr/>
          <p:nvPr/>
        </p:nvSpPr>
        <p:spPr>
          <a:xfrm>
            <a:off x="640080" y="3127248"/>
            <a:ext cx="402336" cy="402336"/>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a:t>
            </a:r>
          </a:p>
        </p:txBody>
      </p:sp>
      <p:sp>
        <p:nvSpPr>
          <p:cNvPr id="13" name="TextBox 12"/>
          <p:cNvSpPr txBox="1"/>
          <p:nvPr/>
        </p:nvSpPr>
        <p:spPr>
          <a:xfrm>
            <a:off x="1234440" y="3213000"/>
            <a:ext cx="2468880" cy="230832"/>
          </a:xfrm>
          <a:prstGeom prst="rect">
            <a:avLst/>
          </a:prstGeom>
          <a:noFill/>
        </p:spPr>
        <p:txBody>
          <a:bodyPr wrap="square" lIns="0" tIns="0" rIns="0" bIns="0" anchor="ctr">
            <a:spAutoFit/>
          </a:bodyPr>
          <a:lstStyle/>
          <a:p>
            <a:pPr algn="l">
              <a:spcAft>
                <a:spcPts val="600"/>
              </a:spcAft>
            </a:pPr>
            <a:r>
              <a:rPr sz="1500" b="1" i="0">
                <a:solidFill>
                  <a:srgbClr val="262626"/>
                </a:solidFill>
                <a:latin typeface="Lato" panose="020F0502020204030203" pitchFamily="34" charset="0"/>
                <a:ea typeface="Lato" panose="020F0502020204030203" pitchFamily="34" charset="0"/>
                <a:cs typeface="Lato" panose="020F0502020204030203" pitchFamily="34" charset="0"/>
              </a:rPr>
              <a:t>Chọn ảnh</a:t>
            </a:r>
          </a:p>
        </p:txBody>
      </p:sp>
      <p:sp>
        <p:nvSpPr>
          <p:cNvPr id="14" name="TextBox 13"/>
          <p:cNvSpPr txBox="1"/>
          <p:nvPr/>
        </p:nvSpPr>
        <p:spPr>
          <a:xfrm>
            <a:off x="3703320" y="3228388"/>
            <a:ext cx="4846320" cy="200055"/>
          </a:xfrm>
          <a:prstGeom prst="rect">
            <a:avLst/>
          </a:prstGeom>
          <a:noFill/>
        </p:spPr>
        <p:txBody>
          <a:bodyPr wrap="square" lIns="0" tIns="0" rIns="0" bIns="0" anchor="ctr">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Chỉ tập validation; loại 99 ảnh có quá ít ô rủi ro.</a:t>
            </a:r>
          </a:p>
        </p:txBody>
      </p:sp>
      <p:sp>
        <p:nvSpPr>
          <p:cNvPr id="15" name="Rounded Rectangle 14"/>
          <p:cNvSpPr/>
          <p:nvPr/>
        </p:nvSpPr>
        <p:spPr>
          <a:xfrm>
            <a:off x="457200" y="3886200"/>
            <a:ext cx="8229600" cy="804672"/>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6" name="Oval 15"/>
          <p:cNvSpPr/>
          <p:nvPr/>
        </p:nvSpPr>
        <p:spPr>
          <a:xfrm>
            <a:off x="640080" y="4087368"/>
            <a:ext cx="402336" cy="402336"/>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a:t>
            </a:r>
          </a:p>
        </p:txBody>
      </p:sp>
      <p:sp>
        <p:nvSpPr>
          <p:cNvPr id="17" name="TextBox 16"/>
          <p:cNvSpPr txBox="1"/>
          <p:nvPr/>
        </p:nvSpPr>
        <p:spPr>
          <a:xfrm>
            <a:off x="1234440" y="4173120"/>
            <a:ext cx="2468880" cy="230832"/>
          </a:xfrm>
          <a:prstGeom prst="rect">
            <a:avLst/>
          </a:prstGeom>
          <a:noFill/>
        </p:spPr>
        <p:txBody>
          <a:bodyPr wrap="square" lIns="0" tIns="0" rIns="0" bIns="0" anchor="ctr">
            <a:spAutoFit/>
          </a:bodyPr>
          <a:lstStyle/>
          <a:p>
            <a:pPr algn="l">
              <a:spcAft>
                <a:spcPts val="600"/>
              </a:spcAft>
            </a:pPr>
            <a:r>
              <a:rPr sz="1500" b="1" i="0">
                <a:solidFill>
                  <a:srgbClr val="262626"/>
                </a:solidFill>
                <a:latin typeface="Lato" panose="020F0502020204030203" pitchFamily="34" charset="0"/>
                <a:ea typeface="Lato" panose="020F0502020204030203" pitchFamily="34" charset="0"/>
                <a:cs typeface="Lato" panose="020F0502020204030203" pitchFamily="34" charset="0"/>
              </a:rPr>
              <a:t>Chưa có cận lý thuyết</a:t>
            </a:r>
          </a:p>
        </p:txBody>
      </p:sp>
      <p:sp>
        <p:nvSpPr>
          <p:cNvPr id="18" name="TextBox 17"/>
          <p:cNvSpPr txBox="1"/>
          <p:nvPr/>
        </p:nvSpPr>
        <p:spPr>
          <a:xfrm>
            <a:off x="3703320" y="4188508"/>
            <a:ext cx="4846320" cy="200055"/>
          </a:xfrm>
          <a:prstGeom prst="rect">
            <a:avLst/>
          </a:prstGeom>
          <a:noFill/>
        </p:spPr>
        <p:txBody>
          <a:bodyPr wrap="square" lIns="0" tIns="0" rIns="0" bIns="0" anchor="ctr">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Chưa kiểm chứng bảo đảm xấp xỉ cho trường hợp nhiều ngân sách.</a:t>
            </a:r>
          </a:p>
        </p:txBody>
      </p:sp>
      <p:sp>
        <p:nvSpPr>
          <p:cNvPr id="19" name="Rounded Rectangle 18"/>
          <p:cNvSpPr/>
          <p:nvPr/>
        </p:nvSpPr>
        <p:spPr>
          <a:xfrm>
            <a:off x="457200" y="4846320"/>
            <a:ext cx="8229600" cy="804672"/>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20" name="Oval 19"/>
          <p:cNvSpPr/>
          <p:nvPr/>
        </p:nvSpPr>
        <p:spPr>
          <a:xfrm>
            <a:off x="640080" y="5047488"/>
            <a:ext cx="402336" cy="402336"/>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Lato" panose="020F0502020204030203" pitchFamily="34" charset="0"/>
                <a:ea typeface="Lato" panose="020F0502020204030203" pitchFamily="34" charset="0"/>
                <a:cs typeface="Lato" panose="020F0502020204030203" pitchFamily="34" charset="0"/>
              </a:rPr>
              <a:t>!</a:t>
            </a:r>
          </a:p>
        </p:txBody>
      </p:sp>
      <p:sp>
        <p:nvSpPr>
          <p:cNvPr id="21" name="TextBox 20"/>
          <p:cNvSpPr txBox="1"/>
          <p:nvPr/>
        </p:nvSpPr>
        <p:spPr>
          <a:xfrm>
            <a:off x="1234440" y="5133240"/>
            <a:ext cx="2468880" cy="230832"/>
          </a:xfrm>
          <a:prstGeom prst="rect">
            <a:avLst/>
          </a:prstGeom>
          <a:noFill/>
        </p:spPr>
        <p:txBody>
          <a:bodyPr wrap="square" lIns="0" tIns="0" rIns="0" bIns="0" anchor="ctr">
            <a:spAutoFit/>
          </a:bodyPr>
          <a:lstStyle/>
          <a:p>
            <a:pPr algn="l">
              <a:spcAft>
                <a:spcPts val="600"/>
              </a:spcAft>
            </a:pPr>
            <a:r>
              <a:rPr sz="1500" b="1" i="0">
                <a:solidFill>
                  <a:srgbClr val="262626"/>
                </a:solidFill>
                <a:latin typeface="Lato" panose="020F0502020204030203" pitchFamily="34" charset="0"/>
                <a:ea typeface="Lato" panose="020F0502020204030203" pitchFamily="34" charset="0"/>
                <a:cs typeface="Lato" panose="020F0502020204030203" pitchFamily="34" charset="0"/>
              </a:rPr>
              <a:t>Mức chênh khiêm tốn</a:t>
            </a:r>
          </a:p>
        </p:txBody>
      </p:sp>
      <p:sp>
        <p:nvSpPr>
          <p:cNvPr id="22" name="TextBox 21"/>
          <p:cNvSpPr txBox="1"/>
          <p:nvPr/>
        </p:nvSpPr>
        <p:spPr>
          <a:xfrm>
            <a:off x="3703320" y="5148628"/>
            <a:ext cx="4846320" cy="200055"/>
          </a:xfrm>
          <a:prstGeom prst="rect">
            <a:avLst/>
          </a:prstGeom>
          <a:noFill/>
        </p:spPr>
        <p:txBody>
          <a:bodyPr wrap="square" lIns="0" tIns="0" rIns="0" bIns="0" anchor="ctr">
            <a:spAutoFit/>
          </a:bodyPr>
          <a:lstStyle/>
          <a:p>
            <a:pPr algn="l">
              <a:spcAft>
                <a:spcPts val="600"/>
              </a:spcAft>
            </a:pPr>
            <a:r>
              <a:rPr sz="1300" b="0" i="0">
                <a:solidFill>
                  <a:srgbClr val="262626"/>
                </a:solidFill>
                <a:latin typeface="Lato" panose="020F0502020204030203" pitchFamily="34" charset="0"/>
                <a:ea typeface="Lato" panose="020F0502020204030203" pitchFamily="34" charset="0"/>
                <a:cs typeface="Lato" panose="020F0502020204030203" pitchFamily="34" charset="0"/>
              </a:rPr>
              <a:t>Hơn naive 4,3–6,2 điểm; còn kém ILP 1,6–2,9 điểm.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600"/>
              <a:t>Kết luận và hướng phát triển</a:t>
            </a:r>
          </a:p>
        </p:txBody>
      </p:sp>
      <p:sp>
        <p:nvSpPr>
          <p:cNvPr id="11"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Rounded Rectangle 2"/>
          <p:cNvSpPr/>
          <p:nvPr/>
        </p:nvSpPr>
        <p:spPr>
          <a:xfrm>
            <a:off x="457200" y="1005840"/>
            <a:ext cx="4023360" cy="356616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4" name="TextBox 3"/>
          <p:cNvSpPr txBox="1"/>
          <p:nvPr/>
        </p:nvSpPr>
        <p:spPr>
          <a:xfrm>
            <a:off x="685800" y="1143000"/>
            <a:ext cx="3566160" cy="276999"/>
          </a:xfrm>
          <a:prstGeom prst="rect">
            <a:avLst/>
          </a:prstGeom>
          <a:noFill/>
        </p:spPr>
        <p:txBody>
          <a:bodyPr wrap="square" lIns="0" tIns="0" rIns="0" bIns="0" anchor="t">
            <a:spAutoFit/>
          </a:bodyPr>
          <a:lstStyle/>
          <a:p>
            <a:pPr algn="l">
              <a:spcAft>
                <a:spcPts val="600"/>
              </a:spcAft>
            </a:pPr>
            <a:r>
              <a:rPr sz="1800" b="1" i="0">
                <a:solidFill>
                  <a:srgbClr val="C00000"/>
                </a:solidFill>
                <a:latin typeface="Lato" panose="020F0502020204030203" pitchFamily="34" charset="0"/>
                <a:ea typeface="Lato" panose="020F0502020204030203" pitchFamily="34" charset="0"/>
                <a:cs typeface="Lato" panose="020F0502020204030203" pitchFamily="34" charset="0"/>
              </a:rPr>
              <a:t>Kết luận</a:t>
            </a:r>
          </a:p>
        </p:txBody>
      </p:sp>
      <p:sp>
        <p:nvSpPr>
          <p:cNvPr id="5" name="TextBox 4"/>
          <p:cNvSpPr txBox="1"/>
          <p:nvPr/>
        </p:nvSpPr>
        <p:spPr>
          <a:xfrm>
            <a:off x="685800" y="1645920"/>
            <a:ext cx="3611880" cy="1815882"/>
          </a:xfrm>
          <a:prstGeom prst="rect">
            <a:avLst/>
          </a:prstGeom>
          <a:noFill/>
        </p:spPr>
        <p:txBody>
          <a:bodyPr wrap="square" lIns="0" tIns="0" rIns="0" bIns="0" anchor="t">
            <a:spAutoFit/>
          </a:bodyPr>
          <a:lstStyle/>
          <a:p>
            <a:pPr marL="201168" indent="-201168" algn="l">
              <a:spcAft>
                <a:spcPts val="1200"/>
              </a:spcAft>
              <a:buClr>
                <a:srgbClr val="C00000"/>
              </a:buClr>
              <a:buChar char="■"/>
            </a:pPr>
            <a:r>
              <a:rPr sz="1400" b="0" i="0">
                <a:solidFill>
                  <a:srgbClr val="262626"/>
                </a:solidFill>
                <a:latin typeface="Lato" panose="020F0502020204030203" pitchFamily="34" charset="0"/>
                <a:ea typeface="Lato" panose="020F0502020204030203" pitchFamily="34" charset="0"/>
                <a:cs typeface="Lato" panose="020F0502020204030203" pitchFamily="34" charset="0"/>
              </a:rPr>
              <a:t>Pha 1: greedy + seed + local search đạt 99,4–99,7% so với ILP, dưới 0,2 s.</a:t>
            </a:r>
          </a:p>
          <a:p>
            <a:pPr marL="201168" indent="-201168" algn="l">
              <a:spcAft>
                <a:spcPts val="1200"/>
              </a:spcAft>
              <a:buClr>
                <a:srgbClr val="C00000"/>
              </a:buClr>
              <a:buChar char="■"/>
            </a:pPr>
            <a:r>
              <a:rPr sz="1400" b="0" i="0">
                <a:solidFill>
                  <a:srgbClr val="262626"/>
                </a:solidFill>
                <a:latin typeface="Lato" panose="020F0502020204030203" pitchFamily="34" charset="0"/>
                <a:ea typeface="Lato" panose="020F0502020204030203" pitchFamily="34" charset="0"/>
                <a:cs typeface="Lato" panose="020F0502020204030203" pitchFamily="34" charset="0"/>
              </a:rPr>
              <a:t>Pha 2: proposed đạt 97–98% so với ILP trên 350 ảnh, nhanh hơn ILP khoảng 900 lần.</a:t>
            </a:r>
          </a:p>
          <a:p>
            <a:pPr marL="201168" indent="-201168" algn="l">
              <a:spcAft>
                <a:spcPts val="1200"/>
              </a:spcAft>
              <a:buClr>
                <a:srgbClr val="C00000"/>
              </a:buClr>
              <a:buChar char="■"/>
            </a:pPr>
            <a:r>
              <a:rPr sz="1400" b="0" i="0">
                <a:solidFill>
                  <a:srgbClr val="262626"/>
                </a:solidFill>
                <a:latin typeface="Lato" panose="020F0502020204030203" pitchFamily="34" charset="0"/>
                <a:ea typeface="Lato" panose="020F0502020204030203" pitchFamily="34" charset="0"/>
                <a:cs typeface="Lato" panose="020F0502020204030203" pitchFamily="34" charset="0"/>
              </a:rPr>
              <a:t>Hơn baseline naive ở đa số instance; kết luận ổn định khi đổi bảng điểm và lưới.</a:t>
            </a:r>
          </a:p>
        </p:txBody>
      </p:sp>
      <p:sp>
        <p:nvSpPr>
          <p:cNvPr id="6" name="Rounded Rectangle 5"/>
          <p:cNvSpPr/>
          <p:nvPr/>
        </p:nvSpPr>
        <p:spPr>
          <a:xfrm>
            <a:off x="4663440" y="1005840"/>
            <a:ext cx="4023360" cy="3566160"/>
          </a:xfrm>
          <a:prstGeom prst="roundRect">
            <a:avLst>
              <a:gd name="adj" fmla="val 6000"/>
            </a:avLst>
          </a:prstGeom>
          <a:solidFill>
            <a:srgbClr val="F4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7" name="TextBox 6"/>
          <p:cNvSpPr txBox="1"/>
          <p:nvPr/>
        </p:nvSpPr>
        <p:spPr>
          <a:xfrm>
            <a:off x="4892040" y="1143000"/>
            <a:ext cx="3566160" cy="276999"/>
          </a:xfrm>
          <a:prstGeom prst="rect">
            <a:avLst/>
          </a:prstGeom>
          <a:noFill/>
        </p:spPr>
        <p:txBody>
          <a:bodyPr wrap="square" lIns="0" tIns="0" rIns="0" bIns="0" anchor="t">
            <a:spAutoFit/>
          </a:bodyPr>
          <a:lstStyle/>
          <a:p>
            <a:pPr algn="l">
              <a:spcAft>
                <a:spcPts val="600"/>
              </a:spcAft>
            </a:pPr>
            <a:r>
              <a:rPr sz="1800" b="1" i="0">
                <a:solidFill>
                  <a:srgbClr val="E39B0B"/>
                </a:solidFill>
                <a:latin typeface="Lato" panose="020F0502020204030203" pitchFamily="34" charset="0"/>
                <a:ea typeface="Lato" panose="020F0502020204030203" pitchFamily="34" charset="0"/>
                <a:cs typeface="Lato" panose="020F0502020204030203" pitchFamily="34" charset="0"/>
              </a:rPr>
              <a:t>Hướng phát triển</a:t>
            </a:r>
          </a:p>
        </p:txBody>
      </p:sp>
      <p:sp>
        <p:nvSpPr>
          <p:cNvPr id="8" name="TextBox 7"/>
          <p:cNvSpPr txBox="1"/>
          <p:nvPr/>
        </p:nvSpPr>
        <p:spPr>
          <a:xfrm>
            <a:off x="4892040" y="1645920"/>
            <a:ext cx="3611880" cy="2185214"/>
          </a:xfrm>
          <a:prstGeom prst="rect">
            <a:avLst/>
          </a:prstGeom>
          <a:noFill/>
        </p:spPr>
        <p:txBody>
          <a:bodyPr wrap="square" lIns="0" tIns="0" rIns="0" bIns="0" anchor="t">
            <a:spAutoFit/>
          </a:bodyPr>
          <a:lstStyle/>
          <a:p>
            <a:pPr marL="201168" indent="-201168" algn="l">
              <a:spcAft>
                <a:spcPts val="1200"/>
              </a:spcAft>
              <a:buClr>
                <a:srgbClr val="C00000"/>
              </a:buClr>
              <a:buChar char="■"/>
            </a:pP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Kiểm</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chứng</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cận</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xấp</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xỉ</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cho</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nhiều</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ràng</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buộc</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knapsack.</a:t>
            </a:r>
          </a:p>
          <a:p>
            <a:pPr marL="201168" indent="-201168" algn="l">
              <a:spcAft>
                <a:spcPts val="1200"/>
              </a:spcAft>
              <a:buClr>
                <a:srgbClr val="C00000"/>
              </a:buClr>
              <a:buChar char="■"/>
            </a:pP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Thêm</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thuật</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toán</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GRASP, simulated annealing, GA.</a:t>
            </a:r>
          </a:p>
          <a:p>
            <a:pPr marL="201168" indent="-201168" algn="l">
              <a:spcAft>
                <a:spcPts val="1200"/>
              </a:spcAft>
              <a:buClr>
                <a:srgbClr val="C00000"/>
              </a:buClr>
              <a:buChar char="■"/>
            </a:pP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Chạy</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độ</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nhạy</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trên</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toàn</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bộ</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350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ảnh</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và</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trên</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mẫu</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ảnh</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khác</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a:t>
            </a:r>
          </a:p>
          <a:p>
            <a:pPr marL="201168" indent="-201168" algn="l">
              <a:spcAft>
                <a:spcPts val="1200"/>
              </a:spcAft>
              <a:buClr>
                <a:srgbClr val="C00000"/>
              </a:buClr>
              <a:buChar char="■"/>
            </a:pP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Mô</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hình</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route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thực</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tế</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hơn</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quay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về</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điểm</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sạc</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deadline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theo</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thời</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 </a:t>
            </a:r>
            <a:r>
              <a:rPr sz="1400" b="0" i="0" dirty="0" err="1">
                <a:solidFill>
                  <a:srgbClr val="262626"/>
                </a:solidFill>
                <a:latin typeface="Lato" panose="020F0502020204030203" pitchFamily="34" charset="0"/>
                <a:ea typeface="Lato" panose="020F0502020204030203" pitchFamily="34" charset="0"/>
                <a:cs typeface="Lato" panose="020F0502020204030203" pitchFamily="34" charset="0"/>
              </a:rPr>
              <a:t>gian</a:t>
            </a:r>
            <a:r>
              <a:rPr sz="1400" b="0" i="0" dirty="0">
                <a:solidFill>
                  <a:srgbClr val="262626"/>
                </a:solidFill>
                <a:latin typeface="Lato" panose="020F0502020204030203" pitchFamily="34" charset="0"/>
                <a:ea typeface="Lato" panose="020F0502020204030203" pitchFamily="34" charset="0"/>
                <a:cs typeface="Lato" panose="020F0502020204030203" pitchFamily="34" charset="0"/>
              </a:rPr>
              <a:t>.</a:t>
            </a:r>
          </a:p>
        </p:txBody>
      </p:sp>
      <p:sp>
        <p:nvSpPr>
          <p:cNvPr id="9" name="Rounded Rectangle 8"/>
          <p:cNvSpPr/>
          <p:nvPr/>
        </p:nvSpPr>
        <p:spPr>
          <a:xfrm>
            <a:off x="457200" y="4800600"/>
            <a:ext cx="8229600" cy="100584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Lato" panose="020F0502020204030203" pitchFamily="34" charset="0"/>
              <a:ea typeface="Lato" panose="020F0502020204030203" pitchFamily="34" charset="0"/>
              <a:cs typeface="Lato" panose="020F0502020204030203" pitchFamily="34" charset="0"/>
            </a:endParaRPr>
          </a:p>
        </p:txBody>
      </p:sp>
      <p:sp>
        <p:nvSpPr>
          <p:cNvPr id="10" name="TextBox 9"/>
          <p:cNvSpPr txBox="1"/>
          <p:nvPr/>
        </p:nvSpPr>
        <p:spPr>
          <a:xfrm>
            <a:off x="685800" y="5057299"/>
            <a:ext cx="7772400" cy="492443"/>
          </a:xfrm>
          <a:prstGeom prst="rect">
            <a:avLst/>
          </a:prstGeom>
          <a:noFill/>
        </p:spPr>
        <p:txBody>
          <a:bodyPr wrap="square" lIns="0" tIns="0" rIns="0" bIns="0" anchor="ctr">
            <a:spAutoFit/>
          </a:bodyPr>
          <a:lstStyle/>
          <a:p>
            <a:pPr algn="l">
              <a:spcAft>
                <a:spcPts val="600"/>
              </a:spcAft>
            </a:pPr>
            <a:r>
              <a:rPr sz="1600" b="1" i="0">
                <a:solidFill>
                  <a:srgbClr val="FFFFFF"/>
                </a:solidFill>
                <a:latin typeface="Lato" panose="020F0502020204030203" pitchFamily="34" charset="0"/>
                <a:ea typeface="Lato" panose="020F0502020204030203" pitchFamily="34" charset="0"/>
                <a:cs typeface="Lato" panose="020F0502020204030203" pitchFamily="34" charset="0"/>
              </a:rPr>
              <a:t>Xét pin từng UAV ngay khi chọn route, kết hợp seed và local search, cho lời giải gần tối ưu trong vài chục mili giây.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480560"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000" dirty="0"/>
              <a:t>THANK YOU!</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152</TotalTime>
  <Words>2464</Words>
  <Application>Microsoft Office PowerPoint</Application>
  <PresentationFormat>On-screen Show (4:3)</PresentationFormat>
  <Paragraphs>298</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Lato</vt:lpstr>
      <vt:lpstr>Office Theme</vt:lpstr>
      <vt:lpstr>PowerPoint Presentation</vt:lpstr>
      <vt:lpstr>NỘI DUNG</vt:lpstr>
      <vt:lpstr>Bối cảnh: khảo sát sau thiên tai bằng UAV</vt:lpstr>
      <vt:lpstr>Mô hình hóa bài toán</vt:lpstr>
      <vt:lpstr>Project gồm hai pha</vt:lpstr>
      <vt:lpstr>Pha 1: các bước cải tiến greedy</vt:lpstr>
      <vt:lpstr>Pha 1: 99,4–99,7% so với ILP</vt:lpstr>
      <vt:lpstr>Pha 2: từ ảnh đến bản đồ rủi ro</vt:lpstr>
      <vt:lpstr>Pha 2: mô hình multi-UAV với pin riêng</vt:lpstr>
      <vt:lpstr>Thuật toán đề xuất so với baseline naive</vt:lpstr>
      <vt:lpstr>Minh họa: proposed và naive</vt:lpstr>
      <vt:lpstr>Kết quả 350 ảnh: 97–98% so với ILP</vt:lpstr>
      <vt:lpstr>Ablation: seed đóng góp nhiều nhất</vt:lpstr>
      <vt:lpstr>Thời gian: nhanh hơn ILP khoảng 900 lần</vt:lpstr>
      <vt:lpstr>Độ nhạy: kết luận không đổi</vt:lpstr>
      <vt:lpstr>Giới hạn cần nói rõ</vt:lpstr>
      <vt:lpstr>Kết luận và hướng phát triển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Hao Dy</cp:lastModifiedBy>
  <cp:revision>14</cp:revision>
  <dcterms:created xsi:type="dcterms:W3CDTF">2021-05-28T04:32:29Z</dcterms:created>
  <dcterms:modified xsi:type="dcterms:W3CDTF">2026-10-13T04:08:36Z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2026-10-13T04:08:36Z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6d3a8367-3671-42b6-becc-71f8164d5d08</vt:lpwstr>
  </property>
  <property fmtid="{D5CDD505-2E9C-101B-9397-08002B2CF9AE}" pid="7" name="MSIP_Label_defa4170-0d19-0005-0004-bc88714345d2_ActionId">
    <vt:lpwstr>b98b820a-1367-403a-a4c0-e3b5ac4d1b7b</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